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4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8412480" y="-2286000"/>
            <a:ext cx="6858000" cy="6858000"/>
          </a:xfrm>
          <a:prstGeom prst="ellipse">
            <a:avLst/>
          </a:prstGeom>
          <a:solidFill>
            <a:srgbClr val="102A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3200400"/>
            <a:ext cx="4572000" cy="73152"/>
          </a:xfrm>
          <a:prstGeom prst="rect">
            <a:avLst/>
          </a:prstGeom>
          <a:solidFill>
            <a:srgbClr val="4A9E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4434840" y="3127248"/>
            <a:ext cx="219456" cy="219456"/>
          </a:xfrm>
          <a:prstGeom prst="ellipse">
            <a:avLst/>
          </a:prstGeom>
          <a:solidFill>
            <a:srgbClr val="C8A3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ight Triangle 5"/>
          <p:cNvSpPr/>
          <p:nvPr/>
        </p:nvSpPr>
        <p:spPr>
          <a:xfrm>
            <a:off x="731520" y="5074920"/>
            <a:ext cx="320040" cy="320040"/>
          </a:xfrm>
          <a:prstGeom prst="rtTriangle">
            <a:avLst/>
          </a:prstGeom>
          <a:solidFill>
            <a:srgbClr val="30D15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31520" y="2011680"/>
            <a:ext cx="9144000" cy="1280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400" b="1">
                <a:solidFill>
                  <a:srgbClr val="F0F3F7"/>
                </a:solidFill>
                <a:latin typeface="Calibri"/>
              </a:rPr>
              <a:t>DATARADAR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3383280"/>
            <a:ext cx="914400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400" b="0">
                <a:solidFill>
                  <a:srgbClr val="4A9EFF"/>
                </a:solidFill>
                <a:latin typeface="Calibri"/>
              </a:rPr>
              <a:t>Data-driven eBay inventory intelligence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4160520"/>
            <a:ext cx="91440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800" b="0">
                <a:solidFill>
                  <a:srgbClr val="F0F3F7"/>
                </a:solidFill>
                <a:latin typeface="Calibri"/>
              </a:rPr>
              <a:t>JJ Shay  ·  Gauntlet Gallery  ·  2026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5852160"/>
            <a:ext cx="91440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0">
                <a:solidFill>
                  <a:srgbClr val="C8A355"/>
                </a:solidFill>
                <a:latin typeface="Calibri"/>
              </a:rPr>
              <a:t>web-production-15df7.up.railway.app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698480" y="6537960"/>
            <a:ext cx="1371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>
                <a:solidFill>
                  <a:srgbClr val="505A6A"/>
                </a:solidFill>
                <a:latin typeface="Calibri"/>
              </a:rPr>
              <a:t>DATARADAR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4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502920"/>
            <a:ext cx="128016" cy="731520"/>
          </a:xfrm>
          <a:prstGeom prst="rect">
            <a:avLst/>
          </a:prstGeom>
          <a:solidFill>
            <a:srgbClr val="C8A3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502920"/>
            <a:ext cx="1097280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600" b="1">
                <a:solidFill>
                  <a:srgbClr val="F0F3F7"/>
                </a:solidFill>
                <a:latin typeface="Calibri"/>
              </a:rPr>
              <a:t>eBay resellers are flying blind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1737360"/>
            <a:ext cx="10515600" cy="3474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2000" b="0">
                <a:solidFill>
                  <a:srgbClr val="F0F3F7"/>
                </a:solidFill>
                <a:latin typeface="Calibri"/>
              </a:rPr>
              <a:t>•  54,000+ comparable sales exist on the web — fragmented, unindexed</a:t>
            </a:r>
          </a:p>
          <a:p>
            <a:pPr algn="l">
              <a:lnSpc>
                <a:spcPct val="150000"/>
              </a:lnSpc>
            </a:pPr>
            <a:r>
              <a:rPr sz="2000" b="0">
                <a:solidFill>
                  <a:srgbClr val="F0F3F7"/>
                </a:solidFill>
                <a:latin typeface="Calibri"/>
              </a:rPr>
              <a:t>•  Sellers price by gut or by the single lowest competitor (race to bottom)</a:t>
            </a:r>
          </a:p>
          <a:p>
            <a:pPr algn="l">
              <a:lnSpc>
                <a:spcPct val="150000"/>
              </a:lnSpc>
            </a:pPr>
            <a:r>
              <a:rPr sz="2000" b="0">
                <a:solidFill>
                  <a:srgbClr val="F0F3F7"/>
                </a:solidFill>
                <a:latin typeface="Calibri"/>
              </a:rPr>
              <a:t>•  No systematic way to ask: "what should this actually sell for?"</a:t>
            </a:r>
          </a:p>
          <a:p>
            <a:pPr algn="l">
              <a:lnSpc>
                <a:spcPct val="150000"/>
              </a:lnSpc>
            </a:pPr>
            <a:r>
              <a:rPr sz="2000" b="0">
                <a:solidFill>
                  <a:srgbClr val="F0F3F7"/>
                </a:solidFill>
                <a:latin typeface="Calibri"/>
              </a:rPr>
              <a:t>•  Key-date events move prices 5–35% — most sellers miss the window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22960" y="5394960"/>
            <a:ext cx="10515600" cy="822960"/>
          </a:xfrm>
          <a:prstGeom prst="roundRect">
            <a:avLst/>
          </a:prstGeom>
          <a:solidFill>
            <a:srgbClr val="1524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822960" y="5394960"/>
            <a:ext cx="10515600" cy="8229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2200" b="1">
                <a:solidFill>
                  <a:srgbClr val="C8A355"/>
                </a:solidFill>
                <a:latin typeface="Calibri"/>
              </a:rPr>
              <a:t>Price accuracy = 60%+ of net margin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698480" y="6537960"/>
            <a:ext cx="1371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>
                <a:solidFill>
                  <a:srgbClr val="505A6A"/>
                </a:solidFill>
                <a:latin typeface="Calibri"/>
              </a:rPr>
              <a:t>DATARADAR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4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502920"/>
            <a:ext cx="128016" cy="731520"/>
          </a:xfrm>
          <a:prstGeom prst="rect">
            <a:avLst/>
          </a:prstGeom>
          <a:solidFill>
            <a:srgbClr val="4A9E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502920"/>
            <a:ext cx="1097280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600" b="1">
                <a:solidFill>
                  <a:srgbClr val="F0F3F7"/>
                </a:solidFill>
                <a:latin typeface="Calibri"/>
              </a:rPr>
              <a:t>DATARADAR in one sentence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1828800"/>
            <a:ext cx="10515600" cy="14630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3200" b="1">
                <a:solidFill>
                  <a:srgbClr val="F0F3F7"/>
                </a:solidFill>
                <a:latin typeface="Calibri"/>
              </a:rPr>
              <a:t>Every eBay listing, priced by 54,000 comps</a:t>
            </a:r>
          </a:p>
          <a:p>
            <a:pPr algn="ctr"/>
            <a:r>
              <a:rPr sz="3200" b="1">
                <a:solidFill>
                  <a:srgbClr val="F0F3F7"/>
                </a:solidFill>
                <a:latin typeface="Calibri"/>
              </a:rPr>
              <a:t>and 4 AI models, in real time.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4663440"/>
            <a:ext cx="1600200" cy="1188720"/>
          </a:xfrm>
          <a:prstGeom prst="roundRect">
            <a:avLst/>
          </a:prstGeom>
          <a:solidFill>
            <a:srgbClr val="121E2F"/>
          </a:solidFill>
          <a:ln w="12700">
            <a:solidFill>
              <a:srgbClr val="4A9E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300" b="1">
                <a:solidFill>
                  <a:srgbClr val="F0F3F7"/>
                </a:solidFill>
                <a:latin typeface="Calibri"/>
              </a:rPr>
              <a:t>eBay
Inventory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2386584" y="4663440"/>
            <a:ext cx="1600200" cy="1188720"/>
          </a:xfrm>
          <a:prstGeom prst="roundRect">
            <a:avLst/>
          </a:prstGeom>
          <a:solidFill>
            <a:srgbClr val="121E2F"/>
          </a:solidFill>
          <a:ln w="12700">
            <a:solidFill>
              <a:srgbClr val="C8A3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300" b="1">
                <a:solidFill>
                  <a:srgbClr val="F0F3F7"/>
                </a:solidFill>
                <a:latin typeface="Calibri"/>
              </a:rPr>
              <a:t>54k Comp
DB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315968" y="4663440"/>
            <a:ext cx="1600200" cy="1188720"/>
          </a:xfrm>
          <a:prstGeom prst="roundRect">
            <a:avLst/>
          </a:prstGeom>
          <a:solidFill>
            <a:srgbClr val="121E2F"/>
          </a:solidFill>
          <a:ln w="12700">
            <a:solidFill>
              <a:srgbClr val="4A9E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300" b="1">
                <a:solidFill>
                  <a:srgbClr val="F0F3F7"/>
                </a:solidFill>
                <a:latin typeface="Calibri"/>
              </a:rPr>
              <a:t>Smart
Anchor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45352" y="4663440"/>
            <a:ext cx="1600200" cy="1188720"/>
          </a:xfrm>
          <a:prstGeom prst="roundRect">
            <a:avLst/>
          </a:prstGeom>
          <a:solidFill>
            <a:srgbClr val="121E2F"/>
          </a:solidFill>
          <a:ln w="12700">
            <a:solidFill>
              <a:srgbClr val="30D15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300" b="1">
                <a:solidFill>
                  <a:srgbClr val="F0F3F7"/>
                </a:solidFill>
                <a:latin typeface="Calibri"/>
              </a:rPr>
              <a:t>4-LLM
Review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174736" y="4663440"/>
            <a:ext cx="1600200" cy="1188720"/>
          </a:xfrm>
          <a:prstGeom prst="roundRect">
            <a:avLst/>
          </a:prstGeom>
          <a:solidFill>
            <a:srgbClr val="121E2F"/>
          </a:solidFill>
          <a:ln w="12700">
            <a:solidFill>
              <a:srgbClr val="C8A3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300" b="1">
                <a:solidFill>
                  <a:srgbClr val="F0F3F7"/>
                </a:solidFill>
                <a:latin typeface="Calibri"/>
              </a:rPr>
              <a:t>Consensus
Range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0104120" y="4663440"/>
            <a:ext cx="1600200" cy="1188720"/>
          </a:xfrm>
          <a:prstGeom prst="roundRect">
            <a:avLst/>
          </a:prstGeom>
          <a:solidFill>
            <a:srgbClr val="121E2F"/>
          </a:solidFill>
          <a:ln w="12700">
            <a:solidFill>
              <a:srgbClr val="4A9E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300" b="1">
                <a:solidFill>
                  <a:srgbClr val="F0F3F7"/>
                </a:solidFill>
                <a:latin typeface="Calibri"/>
              </a:rPr>
              <a:t>One-Click
Reprice</a:t>
            </a:r>
          </a:p>
        </p:txBody>
      </p:sp>
      <p:sp>
        <p:nvSpPr>
          <p:cNvPr id="12" name="Right Arrow 11"/>
          <p:cNvSpPr/>
          <p:nvPr/>
        </p:nvSpPr>
        <p:spPr>
          <a:xfrm>
            <a:off x="2077400" y="5148072"/>
            <a:ext cx="289184" cy="219456"/>
          </a:xfrm>
          <a:prstGeom prst="rightArrow">
            <a:avLst/>
          </a:prstGeom>
          <a:solidFill>
            <a:srgbClr val="4A9E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ight Arrow 12"/>
          <p:cNvSpPr/>
          <p:nvPr/>
        </p:nvSpPr>
        <p:spPr>
          <a:xfrm>
            <a:off x="4006784" y="5148072"/>
            <a:ext cx="289184" cy="219456"/>
          </a:xfrm>
          <a:prstGeom prst="rightArrow">
            <a:avLst/>
          </a:prstGeom>
          <a:solidFill>
            <a:srgbClr val="4A9E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ight Arrow 13"/>
          <p:cNvSpPr/>
          <p:nvPr/>
        </p:nvSpPr>
        <p:spPr>
          <a:xfrm>
            <a:off x="5936168" y="5148072"/>
            <a:ext cx="289184" cy="219456"/>
          </a:xfrm>
          <a:prstGeom prst="rightArrow">
            <a:avLst/>
          </a:prstGeom>
          <a:solidFill>
            <a:srgbClr val="4A9E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ight Arrow 14"/>
          <p:cNvSpPr/>
          <p:nvPr/>
        </p:nvSpPr>
        <p:spPr>
          <a:xfrm>
            <a:off x="7865552" y="5148072"/>
            <a:ext cx="289184" cy="219456"/>
          </a:xfrm>
          <a:prstGeom prst="rightArrow">
            <a:avLst/>
          </a:prstGeom>
          <a:solidFill>
            <a:srgbClr val="4A9E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ight Arrow 15"/>
          <p:cNvSpPr/>
          <p:nvPr/>
        </p:nvSpPr>
        <p:spPr>
          <a:xfrm>
            <a:off x="9794936" y="5148072"/>
            <a:ext cx="289184" cy="219456"/>
          </a:xfrm>
          <a:prstGeom prst="rightArrow">
            <a:avLst/>
          </a:prstGeom>
          <a:solidFill>
            <a:srgbClr val="4A9E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698480" y="6537960"/>
            <a:ext cx="1371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>
                <a:solidFill>
                  <a:srgbClr val="505A6A"/>
                </a:solidFill>
                <a:latin typeface="Calibri"/>
              </a:rPr>
              <a:t>DATARADAR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4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502920"/>
            <a:ext cx="128016" cy="731520"/>
          </a:xfrm>
          <a:prstGeom prst="rect">
            <a:avLst/>
          </a:prstGeom>
          <a:solidFill>
            <a:srgbClr val="C8A3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502920"/>
            <a:ext cx="1097280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600" b="1">
                <a:solidFill>
                  <a:srgbClr val="F0F3F7"/>
                </a:solidFill>
                <a:latin typeface="Calibri"/>
              </a:rPr>
              <a:t>The 54,000-record comp database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1691640"/>
            <a:ext cx="7315200" cy="3291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700" b="0">
                <a:solidFill>
                  <a:srgbClr val="F0F3F7"/>
                </a:solidFill>
                <a:latin typeface="Calibri"/>
              </a:rPr>
              <a:t>•  Deduplicated across Shepard Fairey, Death NYC, KAWS, Banksy, Mr. Brainwash, Bearbrick</a:t>
            </a:r>
          </a:p>
          <a:p>
            <a:pPr algn="l">
              <a:lnSpc>
                <a:spcPct val="150000"/>
              </a:lnSpc>
            </a:pPr>
            <a:r>
              <a:rPr sz="1700" b="0">
                <a:solidFill>
                  <a:srgbClr val="F0F3F7"/>
                </a:solidFill>
                <a:latin typeface="Calibri"/>
              </a:rPr>
              <a:t>•  Indexed: artist, work_id, colorway, medium, edition size, signed/numbered status</a:t>
            </a:r>
          </a:p>
          <a:p>
            <a:pPr algn="l">
              <a:lnSpc>
                <a:spcPct val="150000"/>
              </a:lnSpc>
            </a:pPr>
            <a:r>
              <a:rPr sz="1700" b="0">
                <a:solidFill>
                  <a:srgbClr val="F0F3F7"/>
                </a:solidFill>
                <a:latin typeface="Calibri"/>
              </a:rPr>
              <a:t>•  Weekly scraper pipeline + manual curation loop (operator swipes L=reject R=approve)</a:t>
            </a:r>
          </a:p>
          <a:p>
            <a:pPr algn="l">
              <a:lnSpc>
                <a:spcPct val="150000"/>
              </a:lnSpc>
            </a:pPr>
            <a:r>
              <a:rPr sz="1700" b="0">
                <a:solidFill>
                  <a:srgbClr val="F0F3F7"/>
                </a:solidFill>
                <a:latin typeface="Calibri"/>
              </a:rPr>
              <a:t>•  Powers /prices mobile UI for on-the-go lookups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92327" y="5029200"/>
            <a:ext cx="3383280" cy="1371600"/>
          </a:xfrm>
          <a:prstGeom prst="roundRect">
            <a:avLst/>
          </a:prstGeom>
          <a:solidFill>
            <a:srgbClr val="121E2F"/>
          </a:solidFill>
          <a:ln w="12700">
            <a:solidFill>
              <a:srgbClr val="C8A3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792327" y="5166360"/>
            <a:ext cx="3383280" cy="8229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4000" b="1">
                <a:solidFill>
                  <a:srgbClr val="C8A355"/>
                </a:solidFill>
                <a:latin typeface="Calibri"/>
              </a:rPr>
              <a:t>54,000+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92327" y="5989320"/>
            <a:ext cx="33832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300" b="0">
                <a:solidFill>
                  <a:srgbClr val="7A8494"/>
                </a:solidFill>
                <a:latin typeface="Calibri"/>
              </a:rPr>
              <a:t>comps in DB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404207" y="5029200"/>
            <a:ext cx="3383280" cy="1371600"/>
          </a:xfrm>
          <a:prstGeom prst="roundRect">
            <a:avLst/>
          </a:prstGeom>
          <a:solidFill>
            <a:srgbClr val="121E2F"/>
          </a:solidFill>
          <a:ln w="12700">
            <a:solidFill>
              <a:srgbClr val="4A9E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4404207" y="5166360"/>
            <a:ext cx="3383280" cy="8229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4000" b="1">
                <a:solidFill>
                  <a:srgbClr val="4A9EFF"/>
                </a:solidFill>
                <a:latin typeface="Calibri"/>
              </a:rPr>
              <a:t>&lt;200ms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404207" y="5989320"/>
            <a:ext cx="33832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300" b="0">
                <a:solidFill>
                  <a:srgbClr val="7A8494"/>
                </a:solidFill>
                <a:latin typeface="Calibri"/>
              </a:rPr>
              <a:t>median search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016087" y="5029200"/>
            <a:ext cx="3383280" cy="1371600"/>
          </a:xfrm>
          <a:prstGeom prst="roundRect">
            <a:avLst/>
          </a:prstGeom>
          <a:solidFill>
            <a:srgbClr val="121E2F"/>
          </a:solidFill>
          <a:ln w="12700">
            <a:solidFill>
              <a:srgbClr val="30D15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8016087" y="5166360"/>
            <a:ext cx="3383280" cy="8229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4000" b="1">
                <a:solidFill>
                  <a:srgbClr val="30D158"/>
                </a:solidFill>
                <a:latin typeface="Calibri"/>
              </a:rPr>
              <a:t>99%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016087" y="5989320"/>
            <a:ext cx="33832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300" b="0">
                <a:solidFill>
                  <a:srgbClr val="7A8494"/>
                </a:solidFill>
                <a:latin typeface="Calibri"/>
              </a:rPr>
              <a:t>dedup rate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698480" y="6537960"/>
            <a:ext cx="1371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>
                <a:solidFill>
                  <a:srgbClr val="505A6A"/>
                </a:solidFill>
                <a:latin typeface="Calibri"/>
              </a:rPr>
              <a:t>DATARADAR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4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502920"/>
            <a:ext cx="128016" cy="731520"/>
          </a:xfrm>
          <a:prstGeom prst="rect">
            <a:avLst/>
          </a:prstGeom>
          <a:solidFill>
            <a:srgbClr val="30D15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502920"/>
            <a:ext cx="1097280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600" b="1">
                <a:solidFill>
                  <a:srgbClr val="F0F3F7"/>
                </a:solidFill>
                <a:latin typeface="Calibri"/>
              </a:rPr>
              <a:t>Four models. One range.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22960" y="1508760"/>
            <a:ext cx="5303520" cy="1005840"/>
          </a:xfrm>
          <a:prstGeom prst="roundRect">
            <a:avLst/>
          </a:prstGeom>
          <a:solidFill>
            <a:srgbClr val="121E2F"/>
          </a:solidFill>
          <a:ln w="12700">
            <a:solidFill>
              <a:srgbClr val="4A9E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1097280" y="1664208"/>
            <a:ext cx="475488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000" b="1">
                <a:solidFill>
                  <a:srgbClr val="F0F3F7"/>
                </a:solidFill>
                <a:latin typeface="Calibri"/>
              </a:rPr>
              <a:t>CLAUDE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" y="2103120"/>
            <a:ext cx="47548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>
                <a:solidFill>
                  <a:srgbClr val="7A8494"/>
                </a:solidFill>
                <a:latin typeface="Calibri"/>
              </a:rPr>
              <a:t>Anthropic  ·  claude-sonnet-4-6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0" y="1508760"/>
            <a:ext cx="5303520" cy="1005840"/>
          </a:xfrm>
          <a:prstGeom prst="roundRect">
            <a:avLst/>
          </a:prstGeom>
          <a:solidFill>
            <a:srgbClr val="121E2F"/>
          </a:solidFill>
          <a:ln w="12700">
            <a:solidFill>
              <a:srgbClr val="30D15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6675120" y="1664208"/>
            <a:ext cx="475488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000" b="1">
                <a:solidFill>
                  <a:srgbClr val="F0F3F7"/>
                </a:solidFill>
                <a:latin typeface="Calibri"/>
              </a:rPr>
              <a:t>GPT-4o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675120" y="2103120"/>
            <a:ext cx="47548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>
                <a:solidFill>
                  <a:srgbClr val="7A8494"/>
                </a:solidFill>
                <a:latin typeface="Calibri"/>
              </a:rPr>
              <a:t>OpenAI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22960" y="2679192"/>
            <a:ext cx="5303520" cy="1005840"/>
          </a:xfrm>
          <a:prstGeom prst="roundRect">
            <a:avLst/>
          </a:prstGeom>
          <a:solidFill>
            <a:srgbClr val="121E2F"/>
          </a:solidFill>
          <a:ln w="12700">
            <a:solidFill>
              <a:srgbClr val="C8A3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TextBox 11"/>
          <p:cNvSpPr txBox="1"/>
          <p:nvPr/>
        </p:nvSpPr>
        <p:spPr>
          <a:xfrm>
            <a:off x="1097280" y="2834640"/>
            <a:ext cx="475488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000" b="1">
                <a:solidFill>
                  <a:srgbClr val="F0F3F7"/>
                </a:solidFill>
                <a:latin typeface="Calibri"/>
              </a:rPr>
              <a:t>GEMINI 2.5 FLASH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97280" y="3273552"/>
            <a:ext cx="47548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>
                <a:solidFill>
                  <a:srgbClr val="7A8494"/>
                </a:solidFill>
                <a:latin typeface="Calibri"/>
              </a:rPr>
              <a:t>Google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400800" y="2679192"/>
            <a:ext cx="5303520" cy="1005840"/>
          </a:xfrm>
          <a:prstGeom prst="roundRect">
            <a:avLst/>
          </a:prstGeom>
          <a:solidFill>
            <a:srgbClr val="121E2F"/>
          </a:solidFill>
          <a:ln w="12700">
            <a:solidFill>
              <a:srgbClr val="4A9E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6675120" y="2834640"/>
            <a:ext cx="475488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000" b="1">
                <a:solidFill>
                  <a:srgbClr val="F0F3F7"/>
                </a:solidFill>
                <a:latin typeface="Calibri"/>
              </a:rPr>
              <a:t>GROK 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675120" y="3273552"/>
            <a:ext cx="47548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>
                <a:solidFill>
                  <a:srgbClr val="7A8494"/>
                </a:solidFill>
                <a:latin typeface="Calibri"/>
              </a:rPr>
              <a:t>xAI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22960" y="3977639"/>
            <a:ext cx="10972800" cy="685800"/>
          </a:xfrm>
          <a:prstGeom prst="roundRect">
            <a:avLst/>
          </a:prstGeom>
          <a:solidFill>
            <a:srgbClr val="142C1A"/>
          </a:solidFill>
          <a:ln w="12700">
            <a:solidFill>
              <a:srgbClr val="30D15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22960" y="3977639"/>
            <a:ext cx="10972800" cy="685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500" b="1">
                <a:solidFill>
                  <a:srgbClr val="30D158"/>
                </a:solidFill>
                <a:latin typeface="Calibri"/>
              </a:rPr>
              <a:t>NEW · Each model returns {low, recommended, high} — a range, not a number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2960" y="4846320"/>
            <a:ext cx="10972800" cy="1371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400" b="0">
                <a:solidFill>
                  <a:srgbClr val="F0F3F7"/>
                </a:solidFill>
                <a:latin typeface="Calibri"/>
              </a:rPr>
              <a:t>•  Live eBay competition fed into every prompt via Browse API</a:t>
            </a:r>
          </a:p>
          <a:p>
            <a:pPr algn="l">
              <a:lnSpc>
                <a:spcPct val="130000"/>
              </a:lnSpc>
            </a:pPr>
            <a:r>
              <a:rPr sz="1400" b="0">
                <a:solidFill>
                  <a:srgbClr val="F0F3F7"/>
                </a:solidFill>
                <a:latin typeface="Calibri"/>
              </a:rPr>
              <a:t>•  Per-artist prompt fragments (Fairey editions, Banksy Pest Control, KAWS colorway)</a:t>
            </a:r>
          </a:p>
          <a:p>
            <a:pPr algn="l">
              <a:lnSpc>
                <a:spcPct val="130000"/>
              </a:lnSpc>
            </a:pPr>
            <a:r>
              <a:rPr sz="1400" b="0">
                <a:solidFill>
                  <a:srgbClr val="F0F3F7"/>
                </a:solidFill>
                <a:latin typeface="Calibri"/>
              </a:rPr>
              <a:t>•  Parallel fan-out via ThreadPoolExecutor — 5–10s wall clock per item</a:t>
            </a:r>
          </a:p>
          <a:p>
            <a:pPr algn="l">
              <a:lnSpc>
                <a:spcPct val="130000"/>
              </a:lnSpc>
            </a:pPr>
            <a:r>
              <a:rPr sz="1400" b="0">
                <a:solidFill>
                  <a:srgbClr val="F0F3F7"/>
                </a:solidFill>
                <a:latin typeface="Calibri"/>
              </a:rPr>
              <a:t>•  Cached per (listing_id, comp_median bucket) — invalidates only when comp_median moves ≥$10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2960" y="6355080"/>
            <a:ext cx="105156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300" b="1">
                <a:solidFill>
                  <a:srgbClr val="C8A355"/>
                </a:solidFill>
                <a:latin typeface="Calibri"/>
              </a:rPr>
              <a:t>~$0.02 per item  ·  cached until comps shift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698480" y="6537960"/>
            <a:ext cx="1371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>
                <a:solidFill>
                  <a:srgbClr val="505A6A"/>
                </a:solidFill>
                <a:latin typeface="Calibri"/>
              </a:rPr>
              <a:t>DATARADAR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4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502920"/>
            <a:ext cx="128016" cy="731520"/>
          </a:xfrm>
          <a:prstGeom prst="rect">
            <a:avLst/>
          </a:prstGeom>
          <a:solidFill>
            <a:srgbClr val="4A9E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502920"/>
            <a:ext cx="1097280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600" b="1">
                <a:solidFill>
                  <a:srgbClr val="F0F3F7"/>
                </a:solidFill>
                <a:latin typeface="Calibri"/>
              </a:rPr>
              <a:t>Every pricing call rated 0–100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22960" y="1691640"/>
            <a:ext cx="5943600" cy="3931920"/>
          </a:xfrm>
          <a:prstGeom prst="roundRect">
            <a:avLst/>
          </a:prstGeom>
          <a:solidFill>
            <a:srgbClr val="121E2F"/>
          </a:solidFill>
          <a:ln w="12700">
            <a:solidFill>
              <a:srgbClr val="4A9E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1005840" y="1828800"/>
            <a:ext cx="55778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>
                <a:solidFill>
                  <a:srgbClr val="7A8494"/>
                </a:solidFill>
                <a:latin typeface="Calibri"/>
              </a:rPr>
              <a:t>CONFIDENCE COMPONENTS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1005840" y="2331720"/>
            <a:ext cx="5577840" cy="594360"/>
          </a:xfrm>
          <a:prstGeom prst="roundRect">
            <a:avLst/>
          </a:prstGeom>
          <a:solidFill>
            <a:srgbClr val="0810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1188720" y="2331720"/>
            <a:ext cx="3840480" cy="5943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600" b="0">
                <a:solidFill>
                  <a:srgbClr val="F0F3F7"/>
                </a:solidFill>
                <a:latin typeface="Calibri"/>
              </a:rPr>
              <a:t>Comp density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0" y="2331720"/>
            <a:ext cx="1463040" cy="5943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1600" b="1">
                <a:solidFill>
                  <a:srgbClr val="C8A355"/>
                </a:solidFill>
                <a:latin typeface="Calibri"/>
              </a:rPr>
              <a:t>40 pts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005840" y="3063240"/>
            <a:ext cx="5577840" cy="594360"/>
          </a:xfrm>
          <a:prstGeom prst="roundRect">
            <a:avLst/>
          </a:prstGeom>
          <a:solidFill>
            <a:srgbClr val="0810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1188720" y="3063240"/>
            <a:ext cx="3840480" cy="5943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600" b="0">
                <a:solidFill>
                  <a:srgbClr val="F0F3F7"/>
                </a:solidFill>
                <a:latin typeface="Calibri"/>
              </a:rPr>
              <a:t>LLM agreement (σ)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029200" y="3063240"/>
            <a:ext cx="1463040" cy="5943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1600" b="1">
                <a:solidFill>
                  <a:srgbClr val="4A9EFF"/>
                </a:solidFill>
                <a:latin typeface="Calibri"/>
              </a:rPr>
              <a:t>30 pts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1005840" y="3794760"/>
            <a:ext cx="5577840" cy="594360"/>
          </a:xfrm>
          <a:prstGeom prst="roundRect">
            <a:avLst/>
          </a:prstGeom>
          <a:solidFill>
            <a:srgbClr val="0810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1188720" y="3794760"/>
            <a:ext cx="3840480" cy="5943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600" b="0">
                <a:solidFill>
                  <a:srgbClr val="F0F3F7"/>
                </a:solidFill>
                <a:latin typeface="Calibri"/>
              </a:rPr>
              <a:t>12-mo trend stability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029200" y="3794760"/>
            <a:ext cx="1463040" cy="5943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1600" b="1">
                <a:solidFill>
                  <a:srgbClr val="30D158"/>
                </a:solidFill>
                <a:latin typeface="Calibri"/>
              </a:rPr>
              <a:t>15 pts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005840" y="4526280"/>
            <a:ext cx="5577840" cy="594360"/>
          </a:xfrm>
          <a:prstGeom prst="roundRect">
            <a:avLst/>
          </a:prstGeom>
          <a:solidFill>
            <a:srgbClr val="0810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1188720" y="4526280"/>
            <a:ext cx="3840480" cy="5943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600" b="0">
                <a:solidFill>
                  <a:srgbClr val="F0F3F7"/>
                </a:solidFill>
                <a:latin typeface="Calibri"/>
              </a:rPr>
              <a:t>Live eBay competition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029200" y="4526280"/>
            <a:ext cx="1463040" cy="5943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1600" b="1">
                <a:solidFill>
                  <a:srgbClr val="C8A355"/>
                </a:solidFill>
                <a:latin typeface="Calibri"/>
              </a:rPr>
              <a:t>15 pts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7040880" y="1691640"/>
            <a:ext cx="4754880" cy="3931920"/>
          </a:xfrm>
          <a:prstGeom prst="roundRect">
            <a:avLst/>
          </a:prstGeom>
          <a:solidFill>
            <a:srgbClr val="121E2F"/>
          </a:solidFill>
          <a:ln w="12700">
            <a:solidFill>
              <a:srgbClr val="30D15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Rounded Rectangle 19"/>
          <p:cNvSpPr/>
          <p:nvPr/>
        </p:nvSpPr>
        <p:spPr>
          <a:xfrm>
            <a:off x="7223760" y="1874519"/>
            <a:ext cx="1371600" cy="411480"/>
          </a:xfrm>
          <a:prstGeom prst="roundRect">
            <a:avLst/>
          </a:prstGeom>
          <a:solidFill>
            <a:srgbClr val="08101C"/>
          </a:solidFill>
          <a:ln w="12700">
            <a:solidFill>
              <a:srgbClr val="30D15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TextBox 20"/>
          <p:cNvSpPr txBox="1"/>
          <p:nvPr/>
        </p:nvSpPr>
        <p:spPr>
          <a:xfrm>
            <a:off x="7223760" y="1874519"/>
            <a:ext cx="1371600" cy="4114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100" b="1">
                <a:solidFill>
                  <a:srgbClr val="30D158"/>
                </a:solidFill>
                <a:latin typeface="Calibri"/>
              </a:rPr>
              <a:t>HIGH 70+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8686800" y="1874519"/>
            <a:ext cx="1371600" cy="411480"/>
          </a:xfrm>
          <a:prstGeom prst="roundRect">
            <a:avLst/>
          </a:prstGeom>
          <a:solidFill>
            <a:srgbClr val="08101C"/>
          </a:solidFill>
          <a:ln w="12700">
            <a:solidFill>
              <a:srgbClr val="FFB3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3" name="TextBox 22"/>
          <p:cNvSpPr txBox="1"/>
          <p:nvPr/>
        </p:nvSpPr>
        <p:spPr>
          <a:xfrm>
            <a:off x="8686800" y="1874519"/>
            <a:ext cx="1371600" cy="4114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100" b="1">
                <a:solidFill>
                  <a:srgbClr val="FFB330"/>
                </a:solidFill>
                <a:latin typeface="Calibri"/>
              </a:rPr>
              <a:t>MED 40–69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10149840" y="1874519"/>
            <a:ext cx="1371600" cy="411480"/>
          </a:xfrm>
          <a:prstGeom prst="roundRect">
            <a:avLst/>
          </a:prstGeom>
          <a:solidFill>
            <a:srgbClr val="08101C"/>
          </a:solidFill>
          <a:ln w="12700">
            <a:solidFill>
              <a:srgbClr val="FF5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TextBox 24"/>
          <p:cNvSpPr txBox="1"/>
          <p:nvPr/>
        </p:nvSpPr>
        <p:spPr>
          <a:xfrm>
            <a:off x="10149840" y="1874519"/>
            <a:ext cx="1371600" cy="4114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100" b="1">
                <a:solidFill>
                  <a:srgbClr val="FF5A5A"/>
                </a:solidFill>
                <a:latin typeface="Calibri"/>
              </a:rPr>
              <a:t>LOW &lt;40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223760" y="2514600"/>
            <a:ext cx="4480560" cy="10972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7600" b="1">
                <a:solidFill>
                  <a:srgbClr val="30D158"/>
                </a:solidFill>
                <a:latin typeface="Calibri"/>
              </a:rPr>
              <a:t>85 / 100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223760" y="3611880"/>
            <a:ext cx="44805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400" b="0">
                <a:solidFill>
                  <a:srgbClr val="7A8494"/>
                </a:solidFill>
                <a:latin typeface="Calibri"/>
              </a:rPr>
              <a:t>HIGH confidence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223760" y="4160520"/>
            <a:ext cx="4480560" cy="1371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100" b="1">
                <a:solidFill>
                  <a:srgbClr val="7A8494"/>
                </a:solidFill>
                <a:latin typeface="Calibri"/>
              </a:rPr>
              <a:t>reasoning_chain:</a:t>
            </a:r>
          </a:p>
          <a:p>
            <a:pPr algn="l">
              <a:lnSpc>
                <a:spcPct val="130000"/>
              </a:lnSpc>
            </a:pPr>
            <a:r>
              <a:rPr sz="1200" b="0">
                <a:solidFill>
                  <a:srgbClr val="F0F3F7"/>
                </a:solidFill>
                <a:latin typeface="Calibri"/>
              </a:rPr>
              <a:t>•  18 comps, p75 = $385</a:t>
            </a:r>
          </a:p>
          <a:p>
            <a:pPr algn="l">
              <a:lnSpc>
                <a:spcPct val="130000"/>
              </a:lnSpc>
            </a:pPr>
            <a:r>
              <a:rPr sz="1200" b="0">
                <a:solidFill>
                  <a:srgbClr val="F0F3F7"/>
                </a:solidFill>
                <a:latin typeface="Calibri"/>
              </a:rPr>
              <a:t>•  4-LLM σ = $14 (tight)</a:t>
            </a:r>
          </a:p>
          <a:p>
            <a:pPr algn="l">
              <a:lnSpc>
                <a:spcPct val="130000"/>
              </a:lnSpc>
            </a:pPr>
            <a:r>
              <a:rPr sz="1200" b="0">
                <a:solidFill>
                  <a:srgbClr val="F0F3F7"/>
                </a:solidFill>
                <a:latin typeface="Calibri"/>
              </a:rPr>
              <a:t>•  12-mo trend flat ±3%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22960" y="5852160"/>
            <a:ext cx="105156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400" b="0">
                <a:solidFill>
                  <a:srgbClr val="C8A355"/>
                </a:solidFill>
                <a:latin typeface="Calibri"/>
              </a:rPr>
              <a:t>Every review exposes a reasoning_chain — click "Why?" to see every ingredient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0698480" y="6537960"/>
            <a:ext cx="1371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>
                <a:solidFill>
                  <a:srgbClr val="505A6A"/>
                </a:solidFill>
                <a:latin typeface="Calibri"/>
              </a:rPr>
              <a:t>DATARADAR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4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502920"/>
            <a:ext cx="128016" cy="731520"/>
          </a:xfrm>
          <a:prstGeom prst="rect">
            <a:avLst/>
          </a:prstGeom>
          <a:solidFill>
            <a:srgbClr val="4A9E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502920"/>
            <a:ext cx="1097280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600" b="1">
                <a:solidFill>
                  <a:srgbClr val="F0F3F7"/>
                </a:solidFill>
                <a:latin typeface="Calibri"/>
              </a:rPr>
              <a:t>Tinder for inventory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1691640"/>
            <a:ext cx="7040880" cy="4389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700" b="0">
                <a:solidFill>
                  <a:srgbClr val="F0F3F7"/>
                </a:solidFill>
                <a:latin typeface="Calibri"/>
              </a:rPr>
              <a:t>•  Full-screen card view, one listing at a time</a:t>
            </a:r>
          </a:p>
          <a:p>
            <a:pPr algn="l">
              <a:lnSpc>
                <a:spcPct val="145000"/>
              </a:lnSpc>
            </a:pPr>
            <a:r>
              <a:rPr sz="1700" b="0">
                <a:solidFill>
                  <a:srgbClr val="F0F3F7"/>
                </a:solidFill>
                <a:latin typeface="Calibri"/>
              </a:rPr>
              <a:t>•  Three tabs per card: Comps · LLM Consensus · Train Comps (NEW)</a:t>
            </a:r>
          </a:p>
          <a:p>
            <a:pPr algn="l">
              <a:lnSpc>
                <a:spcPct val="145000"/>
              </a:lnSpc>
            </a:pPr>
            <a:r>
              <a:rPr sz="1700" b="0">
                <a:solidFill>
                  <a:srgbClr val="F0F3F7"/>
                </a:solidFill>
                <a:latin typeface="Calibri"/>
              </a:rPr>
              <a:t>•  Touch swipe, keyboard arrows, Esc to close</a:t>
            </a:r>
          </a:p>
          <a:p>
            <a:pPr algn="l">
              <a:lnSpc>
                <a:spcPct val="145000"/>
              </a:lnSpc>
            </a:pPr>
            <a:r>
              <a:rPr sz="1700" b="0">
                <a:solidFill>
                  <a:srgbClr val="F0F3F7"/>
                </a:solidFill>
                <a:latin typeface="Calibri"/>
              </a:rPr>
              <a:t>•  "Match Consensus" auto-pushes price to eBay in one click</a:t>
            </a:r>
          </a:p>
          <a:p>
            <a:pPr algn="l">
              <a:lnSpc>
                <a:spcPct val="145000"/>
              </a:lnSpc>
            </a:pPr>
            <a:r>
              <a:rPr sz="1700" b="0">
                <a:solidFill>
                  <a:srgbClr val="F0F3F7"/>
                </a:solidFill>
                <a:latin typeface="Calibri"/>
              </a:rPr>
              <a:t>•  Train Comps tab: swipe individual comps to curate the dataset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229600" y="1600200"/>
            <a:ext cx="3291840" cy="4754880"/>
          </a:xfrm>
          <a:prstGeom prst="roundRect">
            <a:avLst/>
          </a:prstGeom>
          <a:solidFill>
            <a:srgbClr val="121E2F"/>
          </a:solidFill>
          <a:ln w="12700">
            <a:solidFill>
              <a:srgbClr val="4A9E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Rounded Rectangle 6"/>
          <p:cNvSpPr/>
          <p:nvPr/>
        </p:nvSpPr>
        <p:spPr>
          <a:xfrm>
            <a:off x="8412480" y="1783080"/>
            <a:ext cx="2926080" cy="777240"/>
          </a:xfrm>
          <a:prstGeom prst="roundRect">
            <a:avLst/>
          </a:prstGeom>
          <a:solidFill>
            <a:srgbClr val="1C2B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8412480" y="1783080"/>
            <a:ext cx="2926080" cy="7772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100" b="1">
                <a:solidFill>
                  <a:srgbClr val="F0F3F7"/>
                </a:solidFill>
                <a:latin typeface="Calibri"/>
              </a:rPr>
              <a:t>HEADER</a:t>
            </a:r>
          </a:p>
          <a:p>
            <a:pPr algn="ctr"/>
            <a:r>
              <a:rPr sz="1100" b="1">
                <a:solidFill>
                  <a:srgbClr val="F0F3F7"/>
                </a:solidFill>
                <a:latin typeface="Calibri"/>
              </a:rPr>
              <a:t>Title · Artist · Price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412480" y="2697480"/>
            <a:ext cx="2926080" cy="457200"/>
          </a:xfrm>
          <a:prstGeom prst="roundRect">
            <a:avLst/>
          </a:prstGeom>
          <a:solidFill>
            <a:srgbClr val="0810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80" y="2697480"/>
            <a:ext cx="292608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00" b="1">
                <a:solidFill>
                  <a:srgbClr val="C8A355"/>
                </a:solidFill>
                <a:latin typeface="Calibri"/>
              </a:rPr>
              <a:t>TABS  ·  Comps | LLM | Train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412480" y="3291840"/>
            <a:ext cx="2926080" cy="2194560"/>
          </a:xfrm>
          <a:prstGeom prst="roundRect">
            <a:avLst/>
          </a:prstGeom>
          <a:solidFill>
            <a:srgbClr val="1C2B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TextBox 11"/>
          <p:cNvSpPr txBox="1"/>
          <p:nvPr/>
        </p:nvSpPr>
        <p:spPr>
          <a:xfrm>
            <a:off x="8412480" y="3291840"/>
            <a:ext cx="2926080" cy="21945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00" b="1">
                <a:solidFill>
                  <a:srgbClr val="F0F3F7"/>
                </a:solidFill>
                <a:latin typeface="Calibri"/>
              </a:rPr>
              <a:t>BODY</a:t>
            </a:r>
          </a:p>
          <a:p>
            <a:pPr algn="ctr"/>
            <a:r>
              <a:rPr sz="1000" b="1">
                <a:solidFill>
                  <a:srgbClr val="F0F3F7"/>
                </a:solidFill>
                <a:latin typeface="Calibri"/>
              </a:rPr>
              <a:t>histogram · year trend</a:t>
            </a:r>
          </a:p>
          <a:p>
            <a:pPr algn="ctr"/>
            <a:r>
              <a:rPr sz="1000" b="1">
                <a:solidFill>
                  <a:srgbClr val="F0F3F7"/>
                </a:solidFill>
                <a:latin typeface="Calibri"/>
              </a:rPr>
              <a:t>4 LLM range cards</a:t>
            </a:r>
          </a:p>
          <a:p>
            <a:pPr algn="ctr"/>
            <a:r>
              <a:rPr sz="1000" b="1">
                <a:solidFill>
                  <a:srgbClr val="F0F3F7"/>
                </a:solidFill>
                <a:latin typeface="Calibri"/>
              </a:rPr>
              <a:t>comp curation stack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412480" y="5623560"/>
            <a:ext cx="2926080" cy="594360"/>
          </a:xfrm>
          <a:prstGeom prst="roundRect">
            <a:avLst/>
          </a:prstGeom>
          <a:solidFill>
            <a:srgbClr val="1438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80" y="5623560"/>
            <a:ext cx="2926080" cy="5943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100" b="1">
                <a:solidFill>
                  <a:srgbClr val="30D158"/>
                </a:solidFill>
                <a:latin typeface="Calibri"/>
              </a:rPr>
              <a:t>FOOTER · Match Consensus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698480" y="6537960"/>
            <a:ext cx="1371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>
                <a:solidFill>
                  <a:srgbClr val="505A6A"/>
                </a:solidFill>
                <a:latin typeface="Calibri"/>
              </a:rPr>
              <a:t>DATARADAR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4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502920"/>
            <a:ext cx="128016" cy="731520"/>
          </a:xfrm>
          <a:prstGeom prst="rect">
            <a:avLst/>
          </a:prstGeom>
          <a:solidFill>
            <a:srgbClr val="30D15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502920"/>
            <a:ext cx="1097280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600" b="1">
                <a:solidFill>
                  <a:srgbClr val="F0F3F7"/>
                </a:solidFill>
                <a:latin typeface="Calibri"/>
              </a:rPr>
              <a:t>Top pricing upsides, ranked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1645920"/>
            <a:ext cx="105156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0" b="0">
                <a:solidFill>
                  <a:srgbClr val="7A8494"/>
                </a:solidFill>
                <a:latin typeface="Calibri"/>
              </a:rPr>
              <a:t>GET /api/opportunities — top 10 underpriced items, ready to reprice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22960" y="2286000"/>
            <a:ext cx="10515600" cy="914400"/>
          </a:xfrm>
          <a:prstGeom prst="roundRect">
            <a:avLst/>
          </a:prstGeom>
          <a:solidFill>
            <a:srgbClr val="08101C"/>
          </a:solidFill>
          <a:ln w="12700">
            <a:solidFill>
              <a:srgbClr val="4A9E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822960" y="2286000"/>
            <a:ext cx="10515600" cy="914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800" b="1">
                <a:solidFill>
                  <a:srgbClr val="30D158"/>
                </a:solidFill>
                <a:latin typeface="Consolas"/>
              </a:rPr>
              <a:t>rank = (comp_median − your_price) × (1 + comp_count / 20) × confidence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3520440"/>
            <a:ext cx="10515600" cy="1828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600" b="0">
                <a:solidFill>
                  <a:srgbClr val="F0F3F7"/>
                </a:solidFill>
                <a:latin typeface="Calibri"/>
              </a:rPr>
              <a:t>•  Ranks every listing by weighted upside × comp density × confidence</a:t>
            </a:r>
          </a:p>
          <a:p>
            <a:pPr algn="l">
              <a:lnSpc>
                <a:spcPct val="140000"/>
              </a:lnSpc>
            </a:pPr>
            <a:r>
              <a:rPr sz="1600" b="0">
                <a:solidFill>
                  <a:srgbClr val="F0F3F7"/>
                </a:solidFill>
                <a:latin typeface="Calibri"/>
              </a:rPr>
              <a:t>•  One-click deep link straight into Swipe Mode on the opportunity item</a:t>
            </a:r>
          </a:p>
          <a:p>
            <a:pPr algn="l">
              <a:lnSpc>
                <a:spcPct val="140000"/>
              </a:lnSpc>
            </a:pPr>
            <a:r>
              <a:rPr sz="1600" b="0">
                <a:solidFill>
                  <a:srgbClr val="F0F3F7"/>
                </a:solidFill>
                <a:latin typeface="Calibri"/>
              </a:rPr>
              <a:t>•  Filter by artist, min confidence, min upside %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22960" y="5532120"/>
            <a:ext cx="10515600" cy="868680"/>
          </a:xfrm>
          <a:prstGeom prst="roundRect">
            <a:avLst/>
          </a:prstGeom>
          <a:solidFill>
            <a:srgbClr val="1524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22960" y="5532120"/>
            <a:ext cx="10515600" cy="8686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2000" b="1">
                <a:solidFill>
                  <a:srgbClr val="C8A355"/>
                </a:solidFill>
                <a:latin typeface="Calibri"/>
              </a:rPr>
              <a:t>Stop clicking 200 listings. Start with the 10 that matter.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698480" y="6537960"/>
            <a:ext cx="1371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>
                <a:solidFill>
                  <a:srgbClr val="505A6A"/>
                </a:solidFill>
                <a:latin typeface="Calibri"/>
              </a:rPr>
              <a:t>DATARADAR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4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502920"/>
            <a:ext cx="128016" cy="731520"/>
          </a:xfrm>
          <a:prstGeom prst="rect">
            <a:avLst/>
          </a:prstGeom>
          <a:solidFill>
            <a:srgbClr val="4A9E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502920"/>
            <a:ext cx="1097280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600" b="1">
                <a:solidFill>
                  <a:srgbClr val="F0F3F7"/>
                </a:solidFill>
                <a:latin typeface="Calibri"/>
              </a:rPr>
              <a:t>One click, many prices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691640"/>
            <a:ext cx="5440680" cy="4114800"/>
          </a:xfrm>
          <a:prstGeom prst="roundRect">
            <a:avLst/>
          </a:prstGeom>
          <a:solidFill>
            <a:srgbClr val="121E2F"/>
          </a:solidFill>
          <a:ln w="12700">
            <a:solidFill>
              <a:srgbClr val="4A9E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685800" y="1920240"/>
            <a:ext cx="544068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1">
                <a:solidFill>
                  <a:srgbClr val="4A9EFF"/>
                </a:solidFill>
                <a:latin typeface="Calibri"/>
              </a:rPr>
              <a:t>BULK REPRICE MODAL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2468880"/>
            <a:ext cx="5074920" cy="3200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400" b="0">
                <a:solidFill>
                  <a:srgbClr val="F0F3F7"/>
                </a:solidFill>
                <a:latin typeface="Calibri"/>
              </a:rPr>
              <a:t>•  Filter: min upside %, min comp count, artist</a:t>
            </a:r>
          </a:p>
          <a:p>
            <a:pPr algn="l">
              <a:lnSpc>
                <a:spcPct val="145000"/>
              </a:lnSpc>
            </a:pPr>
            <a:r>
              <a:rPr sz="1400" b="0">
                <a:solidFill>
                  <a:srgbClr val="F0F3F7"/>
                </a:solidFill>
                <a:latin typeface="Calibri"/>
              </a:rPr>
              <a:t>•  Checkbox table → select-many → apply-many</a:t>
            </a:r>
          </a:p>
          <a:p>
            <a:pPr algn="l">
              <a:lnSpc>
                <a:spcPct val="145000"/>
              </a:lnSpc>
            </a:pPr>
            <a:r>
              <a:rPr sz="1400" b="0">
                <a:solidFill>
                  <a:srgbClr val="F0F3F7"/>
                </a:solidFill>
                <a:latin typeface="Calibri"/>
              </a:rPr>
              <a:t>•  NEW: "Re-query LLMs" checkbox forces fresh consensus</a:t>
            </a:r>
          </a:p>
          <a:p>
            <a:pPr algn="l">
              <a:lnSpc>
                <a:spcPct val="145000"/>
              </a:lnSpc>
            </a:pPr>
            <a:r>
              <a:rPr sz="1400" b="0">
                <a:solidFill>
                  <a:srgbClr val="F0F3F7"/>
                </a:solidFill>
                <a:latin typeface="Calibri"/>
              </a:rPr>
              <a:t>•  Source tag logged per change (manual, bulk_consensus, match_median)</a:t>
            </a:r>
          </a:p>
          <a:p>
            <a:pPr algn="l">
              <a:lnSpc>
                <a:spcPct val="145000"/>
              </a:lnSpc>
            </a:pPr>
            <a:r>
              <a:rPr sz="1400" b="0">
                <a:solidFill>
                  <a:srgbClr val="F0F3F7"/>
                </a:solidFill>
                <a:latin typeface="Calibri"/>
              </a:rPr>
              <a:t>•  Every change writes to the pricing track record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63640" y="1691640"/>
            <a:ext cx="5440680" cy="4114800"/>
          </a:xfrm>
          <a:prstGeom prst="roundRect">
            <a:avLst/>
          </a:prstGeom>
          <a:solidFill>
            <a:srgbClr val="121E2F"/>
          </a:solidFill>
          <a:ln w="12700">
            <a:solidFill>
              <a:srgbClr val="C8A3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6492240" y="1920240"/>
            <a:ext cx="544068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1">
                <a:solidFill>
                  <a:srgbClr val="C8A355"/>
                </a:solidFill>
                <a:latin typeface="Calibri"/>
              </a:rPr>
              <a:t>DRIFT ALERTS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92240" y="2468880"/>
            <a:ext cx="5074920" cy="3200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400" b="0">
                <a:solidFill>
                  <a:srgbClr val="F0F3F7"/>
                </a:solidFill>
                <a:latin typeface="Calibri"/>
              </a:rPr>
              <a:t>•  /api/drift-alerts surfaces comp-vs-listed gaps</a:t>
            </a:r>
          </a:p>
          <a:p>
            <a:pPr algn="l">
              <a:lnSpc>
                <a:spcPct val="145000"/>
              </a:lnSpc>
            </a:pPr>
            <a:r>
              <a:rPr sz="1400" b="0">
                <a:solidFill>
                  <a:srgbClr val="F0F3F7"/>
                </a:solidFill>
                <a:latin typeface="Calibri"/>
              </a:rPr>
              <a:t>•  Trigger: comp_median drifts ≥10% from your listed price</a:t>
            </a:r>
          </a:p>
          <a:p>
            <a:pPr algn="l">
              <a:lnSpc>
                <a:spcPct val="145000"/>
              </a:lnSpc>
            </a:pPr>
            <a:r>
              <a:rPr sz="1400" b="0">
                <a:solidFill>
                  <a:srgbClr val="F0F3F7"/>
                </a:solidFill>
                <a:latin typeface="Calibri"/>
              </a:rPr>
              <a:t>•  Catches missed windows around key-date events</a:t>
            </a:r>
          </a:p>
          <a:p>
            <a:pPr algn="l">
              <a:lnSpc>
                <a:spcPct val="145000"/>
              </a:lnSpc>
            </a:pPr>
            <a:r>
              <a:rPr sz="1400" b="0">
                <a:solidFill>
                  <a:srgbClr val="F0F3F7"/>
                </a:solidFill>
                <a:latin typeface="Calibri"/>
              </a:rPr>
              <a:t>•  Deep-links into Swipe Mode for one-click reprice</a:t>
            </a:r>
          </a:p>
          <a:p>
            <a:pPr algn="l">
              <a:lnSpc>
                <a:spcPct val="145000"/>
              </a:lnSpc>
            </a:pPr>
            <a:r>
              <a:rPr sz="1400" b="0">
                <a:solidFill>
                  <a:srgbClr val="F0F3F7"/>
                </a:solidFill>
                <a:latin typeface="Calibri"/>
              </a:rPr>
              <a:t>•  Morning heads-up on what moved overnight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22960" y="5989320"/>
            <a:ext cx="1051560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400" b="1">
                <a:solidFill>
                  <a:srgbClr val="30D158"/>
                </a:solidFill>
                <a:latin typeface="Calibri"/>
              </a:rPr>
              <a:t>Your pricing track record: every change, timestamped, sourced, reversible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698480" y="6537960"/>
            <a:ext cx="1371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>
                <a:solidFill>
                  <a:srgbClr val="505A6A"/>
                </a:solidFill>
                <a:latin typeface="Calibri"/>
              </a:rPr>
              <a:t>DATARADAR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4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502920"/>
            <a:ext cx="128016" cy="731520"/>
          </a:xfrm>
          <a:prstGeom prst="rect">
            <a:avLst/>
          </a:prstGeom>
          <a:solidFill>
            <a:srgbClr val="C8A3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502920"/>
            <a:ext cx="1097280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600" b="1">
                <a:solidFill>
                  <a:srgbClr val="F0F3F7"/>
                </a:solidFill>
                <a:latin typeface="Calibri"/>
              </a:rPr>
              <a:t>DATARADAR gets smarter with every swipe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1691640"/>
            <a:ext cx="10972800" cy="3474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700" b="0">
                <a:solidFill>
                  <a:srgbClr val="F0F3F7"/>
                </a:solidFill>
                <a:latin typeface="Calibri"/>
              </a:rPr>
              <a:t>•  Individual comps surface in a swipe stack — reject noise, approve relevant</a:t>
            </a:r>
          </a:p>
          <a:p>
            <a:pPr algn="l">
              <a:lnSpc>
                <a:spcPct val="150000"/>
              </a:lnSpc>
            </a:pPr>
            <a:r>
              <a:rPr sz="1700" b="0">
                <a:solidFill>
                  <a:srgbClr val="F0F3F7"/>
                </a:solidFill>
                <a:latin typeface="Calibri"/>
              </a:rPr>
              <a:t>•  Rejections persist to comp_curation_rejections.json, keyed by sha1(name|price|date)</a:t>
            </a:r>
          </a:p>
          <a:p>
            <a:pPr algn="l">
              <a:lnSpc>
                <a:spcPct val="150000"/>
              </a:lnSpc>
            </a:pPr>
            <a:r>
              <a:rPr sz="1700" b="0">
                <a:solidFill>
                  <a:srgbClr val="F0F3F7"/>
                </a:solidFill>
                <a:latin typeface="Calibri"/>
              </a:rPr>
              <a:t>•  lookup_historical_prices auto-filters rejected comps → cleaner median / p75</a:t>
            </a:r>
          </a:p>
          <a:p>
            <a:pPr algn="l">
              <a:lnSpc>
                <a:spcPct val="150000"/>
              </a:lnSpc>
            </a:pPr>
            <a:r>
              <a:rPr sz="1700" b="0">
                <a:solidFill>
                  <a:srgbClr val="F0F3F7"/>
                </a:solidFill>
                <a:latin typeface="Calibri"/>
              </a:rPr>
              <a:t>•  Training data is the operator's expert eye, not labels at scale</a:t>
            </a:r>
          </a:p>
          <a:p>
            <a:pPr algn="l">
              <a:lnSpc>
                <a:spcPct val="150000"/>
              </a:lnSpc>
            </a:pPr>
            <a:r>
              <a:rPr sz="1700" b="0">
                <a:solidFill>
                  <a:srgbClr val="F0F3F7"/>
                </a:solidFill>
                <a:latin typeface="Calibri"/>
              </a:rPr>
              <a:t>•  Every rejection permanently tightens the model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188720" y="5074920"/>
            <a:ext cx="4572000" cy="1280160"/>
          </a:xfrm>
          <a:prstGeom prst="roundRect">
            <a:avLst/>
          </a:prstGeom>
          <a:solidFill>
            <a:srgbClr val="121E2F"/>
          </a:solidFill>
          <a:ln w="12700">
            <a:solidFill>
              <a:srgbClr val="7A849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1188720" y="5166360"/>
            <a:ext cx="45720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200" b="1">
                <a:solidFill>
                  <a:srgbClr val="7A8494"/>
                </a:solidFill>
                <a:latin typeface="Calibri"/>
              </a:rPr>
              <a:t>BEFORE CURATION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88720" y="5532120"/>
            <a:ext cx="4572000" cy="8229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700" b="1">
                <a:solidFill>
                  <a:srgbClr val="7A8494"/>
                </a:solidFill>
                <a:latin typeface="Consolas"/>
              </a:rPr>
              <a:t>noisy comps  →  p75 wobble ±$40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92240" y="5074920"/>
            <a:ext cx="4572000" cy="1280160"/>
          </a:xfrm>
          <a:prstGeom prst="roundRect">
            <a:avLst/>
          </a:prstGeom>
          <a:solidFill>
            <a:srgbClr val="121E2F"/>
          </a:solidFill>
          <a:ln w="12700">
            <a:solidFill>
              <a:srgbClr val="30D15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6492240" y="5166360"/>
            <a:ext cx="45720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200" b="1">
                <a:solidFill>
                  <a:srgbClr val="30D158"/>
                </a:solidFill>
                <a:latin typeface="Calibri"/>
              </a:rPr>
              <a:t>AFTER CURATION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92240" y="5532120"/>
            <a:ext cx="4572000" cy="8229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700" b="1">
                <a:solidFill>
                  <a:srgbClr val="30D158"/>
                </a:solidFill>
                <a:latin typeface="Consolas"/>
              </a:rPr>
              <a:t>clean comps  →  p75 tight ±$8</a:t>
            </a:r>
          </a:p>
        </p:txBody>
      </p:sp>
      <p:sp>
        <p:nvSpPr>
          <p:cNvPr id="12" name="Right Arrow 11"/>
          <p:cNvSpPr/>
          <p:nvPr/>
        </p:nvSpPr>
        <p:spPr>
          <a:xfrm>
            <a:off x="5806440" y="5577840"/>
            <a:ext cx="594360" cy="274320"/>
          </a:xfrm>
          <a:prstGeom prst="rightArrow">
            <a:avLst/>
          </a:prstGeom>
          <a:solidFill>
            <a:srgbClr val="C8A3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698480" y="6537960"/>
            <a:ext cx="1371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>
                <a:solidFill>
                  <a:srgbClr val="505A6A"/>
                </a:solidFill>
                <a:latin typeface="Calibri"/>
              </a:rPr>
              <a:t>DATARADAR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4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502920"/>
            <a:ext cx="128016" cy="731520"/>
          </a:xfrm>
          <a:prstGeom prst="rect">
            <a:avLst/>
          </a:prstGeom>
          <a:solidFill>
            <a:srgbClr val="C8A3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502920"/>
            <a:ext cx="1097280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600" b="1">
                <a:solidFill>
                  <a:srgbClr val="F0F3F7"/>
                </a:solidFill>
                <a:latin typeface="Calibri"/>
              </a:rPr>
              <a:t>Under the hood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87087" y="3017520"/>
            <a:ext cx="3017520" cy="1371600"/>
          </a:xfrm>
          <a:prstGeom prst="roundRect">
            <a:avLst/>
          </a:prstGeom>
          <a:solidFill>
            <a:srgbClr val="121E2F"/>
          </a:solidFill>
          <a:ln w="12700">
            <a:solidFill>
              <a:srgbClr val="4A9E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4587087" y="3017520"/>
            <a:ext cx="3017520" cy="1371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500" b="1">
                <a:solidFill>
                  <a:srgbClr val="F0F3F7"/>
                </a:solidFill>
                <a:latin typeface="Calibri"/>
              </a:rPr>
              <a:t>Flask app</a:t>
            </a:r>
          </a:p>
          <a:p>
            <a:pPr algn="ctr"/>
            <a:r>
              <a:rPr sz="1500" b="1">
                <a:solidFill>
                  <a:srgbClr val="F0F3F7"/>
                </a:solidFill>
                <a:latin typeface="Calibri"/>
              </a:rPr>
              <a:t>app.py · 15,500 lines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1508760"/>
            <a:ext cx="2286000" cy="1005840"/>
          </a:xfrm>
          <a:prstGeom prst="roundRect">
            <a:avLst/>
          </a:prstGeom>
          <a:solidFill>
            <a:srgbClr val="121E2F"/>
          </a:solidFill>
          <a:ln w="12700">
            <a:solidFill>
              <a:srgbClr val="C8A3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457200" y="1508760"/>
            <a:ext cx="2286000" cy="10058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00" b="1">
                <a:solidFill>
                  <a:srgbClr val="F0F3F7"/>
                </a:solidFill>
                <a:latin typeface="Calibri"/>
              </a:rPr>
              <a:t>eBay Trading /</a:t>
            </a:r>
          </a:p>
          <a:p>
            <a:pPr algn="ctr"/>
            <a:r>
              <a:rPr sz="1200" b="1">
                <a:solidFill>
                  <a:srgbClr val="F0F3F7"/>
                </a:solidFill>
                <a:latin typeface="Calibri"/>
              </a:rPr>
              <a:t>Browse API</a:t>
            </a:r>
          </a:p>
        </p:txBody>
      </p:sp>
      <p:sp>
        <p:nvSpPr>
          <p:cNvPr id="9" name="Right Arrow 8"/>
          <p:cNvSpPr/>
          <p:nvPr/>
        </p:nvSpPr>
        <p:spPr>
          <a:xfrm>
            <a:off x="2788920" y="1920240"/>
            <a:ext cx="1768167" cy="201168"/>
          </a:xfrm>
          <a:prstGeom prst="rightArrow">
            <a:avLst/>
          </a:prstGeom>
          <a:solidFill>
            <a:srgbClr val="C8A3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457200" y="2880360"/>
            <a:ext cx="2286000" cy="1005840"/>
          </a:xfrm>
          <a:prstGeom prst="roundRect">
            <a:avLst/>
          </a:prstGeom>
          <a:solidFill>
            <a:srgbClr val="121E2F"/>
          </a:solidFill>
          <a:ln w="12700">
            <a:solidFill>
              <a:srgbClr val="C8A3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457200" y="2880360"/>
            <a:ext cx="2286000" cy="10058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00" b="1">
                <a:solidFill>
                  <a:srgbClr val="F0F3F7"/>
                </a:solidFill>
                <a:latin typeface="Calibri"/>
              </a:rPr>
              <a:t>Google Sheets</a:t>
            </a:r>
          </a:p>
          <a:p>
            <a:pPr algn="ctr"/>
            <a:r>
              <a:rPr sz="1200" b="1">
                <a:solidFill>
                  <a:srgbClr val="F0F3F7"/>
                </a:solidFill>
                <a:latin typeface="Calibri"/>
              </a:rPr>
              <a:t>(pricing rules)</a:t>
            </a:r>
          </a:p>
        </p:txBody>
      </p:sp>
      <p:sp>
        <p:nvSpPr>
          <p:cNvPr id="12" name="Right Arrow 11"/>
          <p:cNvSpPr/>
          <p:nvPr/>
        </p:nvSpPr>
        <p:spPr>
          <a:xfrm>
            <a:off x="2788920" y="3291840"/>
            <a:ext cx="1768167" cy="201168"/>
          </a:xfrm>
          <a:prstGeom prst="rightArrow">
            <a:avLst/>
          </a:prstGeom>
          <a:solidFill>
            <a:srgbClr val="C8A3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457200" y="4251960"/>
            <a:ext cx="2286000" cy="1005840"/>
          </a:xfrm>
          <a:prstGeom prst="roundRect">
            <a:avLst/>
          </a:prstGeom>
          <a:solidFill>
            <a:srgbClr val="121E2F"/>
          </a:solidFill>
          <a:ln w="12700">
            <a:solidFill>
              <a:srgbClr val="C8A3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457200" y="4251960"/>
            <a:ext cx="2286000" cy="10058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00" b="1">
                <a:solidFill>
                  <a:srgbClr val="F0F3F7"/>
                </a:solidFill>
                <a:latin typeface="Calibri"/>
              </a:rPr>
              <a:t>54k comp DB</a:t>
            </a:r>
          </a:p>
          <a:p>
            <a:pPr algn="ctr"/>
            <a:r>
              <a:rPr sz="1200" b="1">
                <a:solidFill>
                  <a:srgbClr val="F0F3F7"/>
                </a:solidFill>
                <a:latin typeface="Calibri"/>
              </a:rPr>
              <a:t>(data/*.json)</a:t>
            </a:r>
          </a:p>
        </p:txBody>
      </p:sp>
      <p:sp>
        <p:nvSpPr>
          <p:cNvPr id="15" name="Right Arrow 14"/>
          <p:cNvSpPr/>
          <p:nvPr/>
        </p:nvSpPr>
        <p:spPr>
          <a:xfrm>
            <a:off x="2788920" y="4663440"/>
            <a:ext cx="1768167" cy="201168"/>
          </a:xfrm>
          <a:prstGeom prst="rightArrow">
            <a:avLst/>
          </a:prstGeom>
          <a:solidFill>
            <a:srgbClr val="C8A3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9418320" y="1280160"/>
            <a:ext cx="2286000" cy="777240"/>
          </a:xfrm>
          <a:prstGeom prst="roundRect">
            <a:avLst/>
          </a:prstGeom>
          <a:solidFill>
            <a:srgbClr val="121E2F"/>
          </a:solidFill>
          <a:ln w="12700">
            <a:solidFill>
              <a:srgbClr val="30D15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9418320" y="1280160"/>
            <a:ext cx="2286000" cy="7772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00" b="1">
                <a:solidFill>
                  <a:srgbClr val="F0F3F7"/>
                </a:solidFill>
                <a:latin typeface="Calibri"/>
              </a:rPr>
              <a:t>Claude API</a:t>
            </a:r>
          </a:p>
        </p:txBody>
      </p:sp>
      <p:sp>
        <p:nvSpPr>
          <p:cNvPr id="18" name="Right Arrow 17"/>
          <p:cNvSpPr/>
          <p:nvPr/>
        </p:nvSpPr>
        <p:spPr>
          <a:xfrm>
            <a:off x="7634607" y="1572768"/>
            <a:ext cx="1753712" cy="201168"/>
          </a:xfrm>
          <a:prstGeom prst="rightArrow">
            <a:avLst/>
          </a:prstGeom>
          <a:solidFill>
            <a:srgbClr val="30D15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9418320" y="2423160"/>
            <a:ext cx="2286000" cy="777240"/>
          </a:xfrm>
          <a:prstGeom prst="roundRect">
            <a:avLst/>
          </a:prstGeom>
          <a:solidFill>
            <a:srgbClr val="121E2F"/>
          </a:solidFill>
          <a:ln w="12700">
            <a:solidFill>
              <a:srgbClr val="30D15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TextBox 19"/>
          <p:cNvSpPr txBox="1"/>
          <p:nvPr/>
        </p:nvSpPr>
        <p:spPr>
          <a:xfrm>
            <a:off x="9418320" y="2423160"/>
            <a:ext cx="2286000" cy="7772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00" b="1">
                <a:solidFill>
                  <a:srgbClr val="F0F3F7"/>
                </a:solidFill>
                <a:latin typeface="Calibri"/>
              </a:rPr>
              <a:t>OpenAI API</a:t>
            </a:r>
          </a:p>
        </p:txBody>
      </p:sp>
      <p:sp>
        <p:nvSpPr>
          <p:cNvPr id="21" name="Right Arrow 20"/>
          <p:cNvSpPr/>
          <p:nvPr/>
        </p:nvSpPr>
        <p:spPr>
          <a:xfrm>
            <a:off x="7634607" y="2715768"/>
            <a:ext cx="1753712" cy="201168"/>
          </a:xfrm>
          <a:prstGeom prst="rightArrow">
            <a:avLst/>
          </a:prstGeom>
          <a:solidFill>
            <a:srgbClr val="30D15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9418320" y="3566160"/>
            <a:ext cx="2286000" cy="777240"/>
          </a:xfrm>
          <a:prstGeom prst="roundRect">
            <a:avLst/>
          </a:prstGeom>
          <a:solidFill>
            <a:srgbClr val="121E2F"/>
          </a:solidFill>
          <a:ln w="12700">
            <a:solidFill>
              <a:srgbClr val="30D15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3" name="TextBox 22"/>
          <p:cNvSpPr txBox="1"/>
          <p:nvPr/>
        </p:nvSpPr>
        <p:spPr>
          <a:xfrm>
            <a:off x="9418320" y="3566160"/>
            <a:ext cx="2286000" cy="7772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00" b="1">
                <a:solidFill>
                  <a:srgbClr val="F0F3F7"/>
                </a:solidFill>
                <a:latin typeface="Calibri"/>
              </a:rPr>
              <a:t>Gemini API</a:t>
            </a:r>
          </a:p>
        </p:txBody>
      </p:sp>
      <p:sp>
        <p:nvSpPr>
          <p:cNvPr id="24" name="Right Arrow 23"/>
          <p:cNvSpPr/>
          <p:nvPr/>
        </p:nvSpPr>
        <p:spPr>
          <a:xfrm>
            <a:off x="7634607" y="3858768"/>
            <a:ext cx="1753712" cy="201168"/>
          </a:xfrm>
          <a:prstGeom prst="rightArrow">
            <a:avLst/>
          </a:prstGeom>
          <a:solidFill>
            <a:srgbClr val="30D15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ounded Rectangle 24"/>
          <p:cNvSpPr/>
          <p:nvPr/>
        </p:nvSpPr>
        <p:spPr>
          <a:xfrm>
            <a:off x="9418320" y="4709160"/>
            <a:ext cx="2286000" cy="777240"/>
          </a:xfrm>
          <a:prstGeom prst="roundRect">
            <a:avLst/>
          </a:prstGeom>
          <a:solidFill>
            <a:srgbClr val="121E2F"/>
          </a:solidFill>
          <a:ln w="12700">
            <a:solidFill>
              <a:srgbClr val="30D15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9418320" y="4709160"/>
            <a:ext cx="2286000" cy="7772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00" b="1">
                <a:solidFill>
                  <a:srgbClr val="F0F3F7"/>
                </a:solidFill>
                <a:latin typeface="Calibri"/>
              </a:rPr>
              <a:t>Grok API</a:t>
            </a:r>
          </a:p>
        </p:txBody>
      </p:sp>
      <p:sp>
        <p:nvSpPr>
          <p:cNvPr id="27" name="Right Arrow 26"/>
          <p:cNvSpPr/>
          <p:nvPr/>
        </p:nvSpPr>
        <p:spPr>
          <a:xfrm>
            <a:off x="7634607" y="5001768"/>
            <a:ext cx="1753712" cy="201168"/>
          </a:xfrm>
          <a:prstGeom prst="rightArrow">
            <a:avLst/>
          </a:prstGeom>
          <a:solidFill>
            <a:srgbClr val="30D15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4389120" y="4663440"/>
            <a:ext cx="33832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100" b="0">
                <a:solidFill>
                  <a:srgbClr val="7A8494"/>
                </a:solidFill>
                <a:latin typeface="Calibri"/>
              </a:rPr>
              <a:t>parallel fan-out · ThreadPoolExecutor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22960" y="6035040"/>
            <a:ext cx="105156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200" b="0">
                <a:solidFill>
                  <a:srgbClr val="7A8494"/>
                </a:solidFill>
                <a:latin typeface="Calibri"/>
              </a:rPr>
              <a:t>Deployment: Railway + Cron (nightly reindex)  ·  Persistence: JSON + Google Sheets + Railway env vars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0698480" y="6537960"/>
            <a:ext cx="1371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>
                <a:solidFill>
                  <a:srgbClr val="505A6A"/>
                </a:solidFill>
                <a:latin typeface="Calibri"/>
              </a:rPr>
              <a:t>DATARADAR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4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502920"/>
            <a:ext cx="128016" cy="731520"/>
          </a:xfrm>
          <a:prstGeom prst="rect">
            <a:avLst/>
          </a:prstGeom>
          <a:solidFill>
            <a:srgbClr val="30D15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502920"/>
            <a:ext cx="1097280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600" b="1">
                <a:solidFill>
                  <a:srgbClr val="F0F3F7"/>
                </a:solidFill>
                <a:latin typeface="Calibri"/>
              </a:rPr>
              <a:t>Where we are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72287" y="1828800"/>
            <a:ext cx="2606040" cy="2926080"/>
          </a:xfrm>
          <a:prstGeom prst="roundRect">
            <a:avLst/>
          </a:prstGeom>
          <a:solidFill>
            <a:srgbClr val="121E2F"/>
          </a:solidFill>
          <a:ln w="12700">
            <a:solidFill>
              <a:srgbClr val="C8A3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472287" y="2148840"/>
            <a:ext cx="2606040" cy="1280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5000" b="1">
                <a:solidFill>
                  <a:srgbClr val="C8A355"/>
                </a:solidFill>
                <a:latin typeface="Calibri"/>
              </a:rPr>
              <a:t>54,000+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5167" y="3520440"/>
            <a:ext cx="2240280" cy="1188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300" b="0">
                <a:solidFill>
                  <a:srgbClr val="F0F3F7"/>
                </a:solidFill>
                <a:latin typeface="Calibri"/>
              </a:rPr>
              <a:t>records in comp DB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352647" y="1828800"/>
            <a:ext cx="2606040" cy="2926080"/>
          </a:xfrm>
          <a:prstGeom prst="roundRect">
            <a:avLst/>
          </a:prstGeom>
          <a:solidFill>
            <a:srgbClr val="121E2F"/>
          </a:solidFill>
          <a:ln w="12700">
            <a:solidFill>
              <a:srgbClr val="4A9E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3352647" y="2148840"/>
            <a:ext cx="2606040" cy="1280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5000" b="1">
                <a:solidFill>
                  <a:srgbClr val="4A9EFF"/>
                </a:solidFill>
                <a:latin typeface="Calibri"/>
              </a:rPr>
              <a:t>~200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535527" y="3520440"/>
            <a:ext cx="2240280" cy="1188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300" b="0">
                <a:solidFill>
                  <a:srgbClr val="F0F3F7"/>
                </a:solidFill>
                <a:latin typeface="Calibri"/>
              </a:rPr>
              <a:t>active eBay listings</a:t>
            </a:r>
          </a:p>
          <a:p>
            <a:pPr algn="ctr"/>
            <a:r>
              <a:rPr sz="1300" b="0">
                <a:solidFill>
                  <a:srgbClr val="F0F3F7"/>
                </a:solidFill>
                <a:latin typeface="Calibri"/>
              </a:rPr>
              <a:t>under management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233007" y="1828800"/>
            <a:ext cx="2606040" cy="2926080"/>
          </a:xfrm>
          <a:prstGeom prst="roundRect">
            <a:avLst/>
          </a:prstGeom>
          <a:solidFill>
            <a:srgbClr val="121E2F"/>
          </a:solidFill>
          <a:ln w="12700">
            <a:solidFill>
              <a:srgbClr val="30D15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TextBox 11"/>
          <p:cNvSpPr txBox="1"/>
          <p:nvPr/>
        </p:nvSpPr>
        <p:spPr>
          <a:xfrm>
            <a:off x="6233007" y="2148840"/>
            <a:ext cx="2606040" cy="1280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5000" b="1">
                <a:solidFill>
                  <a:srgbClr val="30D158"/>
                </a:solidFill>
                <a:latin typeface="Calibri"/>
              </a:rPr>
              <a:t>3 of 4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15887" y="3520440"/>
            <a:ext cx="2240280" cy="1188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300" b="0">
                <a:solidFill>
                  <a:srgbClr val="F0F3F7"/>
                </a:solidFill>
                <a:latin typeface="Calibri"/>
              </a:rPr>
              <a:t>LLMs live</a:t>
            </a:r>
          </a:p>
          <a:p>
            <a:pPr algn="ctr"/>
            <a:r>
              <a:rPr sz="1300" b="0">
                <a:solidFill>
                  <a:srgbClr val="F0F3F7"/>
                </a:solidFill>
                <a:latin typeface="Calibri"/>
              </a:rPr>
              <a:t>Claude · GPT-4o · Gemini</a:t>
            </a:r>
          </a:p>
          <a:p>
            <a:pPr algn="ctr"/>
            <a:r>
              <a:rPr sz="1300" b="0">
                <a:solidFill>
                  <a:srgbClr val="F0F3F7"/>
                </a:solidFill>
                <a:latin typeface="Calibri"/>
              </a:rPr>
              <a:t>Grok pending env var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9113367" y="1828800"/>
            <a:ext cx="2606040" cy="2926080"/>
          </a:xfrm>
          <a:prstGeom prst="roundRect">
            <a:avLst/>
          </a:prstGeom>
          <a:solidFill>
            <a:srgbClr val="121E2F"/>
          </a:solidFill>
          <a:ln w="12700">
            <a:solidFill>
              <a:srgbClr val="4A9E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9113367" y="2148840"/>
            <a:ext cx="2606040" cy="1280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5000" b="1">
                <a:solidFill>
                  <a:srgbClr val="4A9EFF"/>
                </a:solidFill>
                <a:latin typeface="Calibri"/>
              </a:rPr>
              <a:t>&lt;2s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296247" y="3520440"/>
            <a:ext cx="2240280" cy="1188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300" b="0">
                <a:solidFill>
                  <a:srgbClr val="F0F3F7"/>
                </a:solidFill>
                <a:latin typeface="Calibri"/>
              </a:rPr>
              <a:t>wall clock</a:t>
            </a:r>
          </a:p>
          <a:p>
            <a:pPr algn="ctr"/>
            <a:r>
              <a:rPr sz="1300" b="0">
                <a:solidFill>
                  <a:srgbClr val="F0F3F7"/>
                </a:solidFill>
                <a:latin typeface="Calibri"/>
              </a:rPr>
              <a:t>3-LLM fan-out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2960" y="5257800"/>
            <a:ext cx="1051560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600" b="1">
                <a:solidFill>
                  <a:srgbClr val="C8A355"/>
                </a:solidFill>
                <a:latin typeface="Calibri"/>
              </a:rPr>
              <a:t>Deployed live at web-production-15df7.up.railway.app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22960" y="5715000"/>
            <a:ext cx="105156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300" b="0">
                <a:solidFill>
                  <a:srgbClr val="7A8494"/>
                </a:solidFill>
                <a:latin typeface="Calibri"/>
              </a:rPr>
              <a:t>Railway auto-deploy  ·  Nightly comp re-index cron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698480" y="6537960"/>
            <a:ext cx="1371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>
                <a:solidFill>
                  <a:srgbClr val="505A6A"/>
                </a:solidFill>
                <a:latin typeface="Calibri"/>
              </a:rPr>
              <a:t>DATARADAR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4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502920"/>
            <a:ext cx="128016" cy="731520"/>
          </a:xfrm>
          <a:prstGeom prst="rect">
            <a:avLst/>
          </a:prstGeom>
          <a:solidFill>
            <a:srgbClr val="C8A3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502920"/>
            <a:ext cx="1097280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600" b="1">
                <a:solidFill>
                  <a:srgbClr val="F0F3F7"/>
                </a:solidFill>
                <a:latin typeface="Calibri"/>
              </a:rPr>
              <a:t>Strategic options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09447" y="1691640"/>
            <a:ext cx="10972800" cy="1188720"/>
          </a:xfrm>
          <a:prstGeom prst="roundRect">
            <a:avLst/>
          </a:prstGeom>
          <a:solidFill>
            <a:srgbClr val="121E2F"/>
          </a:solidFill>
          <a:ln w="12700">
            <a:solidFill>
              <a:srgbClr val="30D15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975207" y="1691640"/>
            <a:ext cx="2377440" cy="11887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2400" b="1">
                <a:solidFill>
                  <a:srgbClr val="30D158"/>
                </a:solidFill>
                <a:latin typeface="Calibri"/>
              </a:rPr>
              <a:t>OWN</a:t>
            </a:r>
          </a:p>
        </p:txBody>
      </p:sp>
      <p:sp>
        <p:nvSpPr>
          <p:cNvPr id="7" name="Rectangle 6"/>
          <p:cNvSpPr/>
          <p:nvPr/>
        </p:nvSpPr>
        <p:spPr>
          <a:xfrm>
            <a:off x="3398367" y="1920240"/>
            <a:ext cx="27432" cy="731520"/>
          </a:xfrm>
          <a:prstGeom prst="rect">
            <a:avLst/>
          </a:prstGeom>
          <a:solidFill>
            <a:srgbClr val="30D15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626967" y="1691640"/>
            <a:ext cx="7680960" cy="11887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500" b="0">
                <a:solidFill>
                  <a:srgbClr val="F0F3F7"/>
                </a:solidFill>
                <a:latin typeface="Calibri"/>
              </a:rPr>
              <a:t>Private moat driving Gauntlet Gallery margin — no one else has this pricing stack.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09447" y="3108960"/>
            <a:ext cx="10972800" cy="1188720"/>
          </a:xfrm>
          <a:prstGeom prst="roundRect">
            <a:avLst/>
          </a:prstGeom>
          <a:solidFill>
            <a:srgbClr val="121E2F"/>
          </a:solidFill>
          <a:ln w="12700">
            <a:solidFill>
              <a:srgbClr val="4A9E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975207" y="3108960"/>
            <a:ext cx="2377440" cy="11887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2400" b="1">
                <a:solidFill>
                  <a:srgbClr val="4A9EFF"/>
                </a:solidFill>
                <a:latin typeface="Calibri"/>
              </a:rPr>
              <a:t>LICENSE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398367" y="3337560"/>
            <a:ext cx="27432" cy="731520"/>
          </a:xfrm>
          <a:prstGeom prst="rect">
            <a:avLst/>
          </a:prstGeom>
          <a:solidFill>
            <a:srgbClr val="4A9E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626967" y="3108960"/>
            <a:ext cx="7680960" cy="11887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500" b="0">
                <a:solidFill>
                  <a:srgbClr val="F0F3F7"/>
                </a:solidFill>
                <a:latin typeface="Calibri"/>
              </a:rPr>
              <a:t>$99–299/mo SaaS for other high-volume art resellers  ·  100 subs × $99 ≈ $119k ARR.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09447" y="4526280"/>
            <a:ext cx="10972800" cy="1188720"/>
          </a:xfrm>
          <a:prstGeom prst="roundRect">
            <a:avLst/>
          </a:prstGeom>
          <a:solidFill>
            <a:srgbClr val="121E2F"/>
          </a:solidFill>
          <a:ln w="12700">
            <a:solidFill>
              <a:srgbClr val="C8A3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975207" y="4526280"/>
            <a:ext cx="2377440" cy="11887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2400" b="1">
                <a:solidFill>
                  <a:srgbClr val="C8A355"/>
                </a:solidFill>
                <a:latin typeface="Calibri"/>
              </a:rPr>
              <a:t>SELL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398367" y="4754880"/>
            <a:ext cx="27432" cy="731520"/>
          </a:xfrm>
          <a:prstGeom prst="rect">
            <a:avLst/>
          </a:prstGeom>
          <a:solidFill>
            <a:srgbClr val="C8A3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626967" y="4526280"/>
            <a:ext cx="7680960" cy="11887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500" b="0">
                <a:solidFill>
                  <a:srgbClr val="F0F3F7"/>
                </a:solidFill>
                <a:latin typeface="Calibri"/>
              </a:rPr>
              <a:t>Acquire-hire / IP sale to Heritage, 1stDibs, StockX, Rally.Rd, or eBay analytics.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2960" y="6035040"/>
            <a:ext cx="1051560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300" b="0">
                <a:solidFill>
                  <a:srgbClr val="7A8494"/>
                </a:solidFill>
                <a:latin typeface="Calibri"/>
              </a:rPr>
              <a:t>Collectibles software TAM ≈ $400M  ·  growing 12% YoY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698480" y="6537960"/>
            <a:ext cx="1371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>
                <a:solidFill>
                  <a:srgbClr val="505A6A"/>
                </a:solidFill>
                <a:latin typeface="Calibri"/>
              </a:rPr>
              <a:t>DATARADAR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4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0" y="1371600"/>
            <a:ext cx="2103120" cy="73152"/>
          </a:xfrm>
          <a:prstGeom prst="rect">
            <a:avLst/>
          </a:prstGeom>
          <a:solidFill>
            <a:srgbClr val="4A9E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1645920"/>
            <a:ext cx="1051560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4000" b="1">
                <a:solidFill>
                  <a:srgbClr val="F0F3F7"/>
                </a:solidFill>
                <a:latin typeface="Calibri"/>
              </a:rPr>
              <a:t>JJ Shay  ·  Gauntlet Gallery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3017520"/>
            <a:ext cx="10515600" cy="2286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80000"/>
              </a:lnSpc>
            </a:pPr>
            <a:r>
              <a:rPr sz="2000" b="0">
                <a:solidFill>
                  <a:srgbClr val="F0F3F7"/>
                </a:solidFill>
                <a:latin typeface="Calibri"/>
              </a:rPr>
              <a:t>jjshay@gmail.com</a:t>
            </a:r>
          </a:p>
          <a:p>
            <a:pPr algn="ctr">
              <a:lnSpc>
                <a:spcPct val="180000"/>
              </a:lnSpc>
            </a:pPr>
            <a:r>
              <a:rPr sz="2000" b="0">
                <a:solidFill>
                  <a:srgbClr val="4A9EFF"/>
                </a:solidFill>
                <a:latin typeface="Calibri"/>
              </a:rPr>
              <a:t>linkedin.com/in/jjshay</a:t>
            </a:r>
          </a:p>
          <a:p>
            <a:pPr algn="ctr">
              <a:lnSpc>
                <a:spcPct val="180000"/>
              </a:lnSpc>
            </a:pPr>
            <a:r>
              <a:rPr sz="2000" b="0">
                <a:solidFill>
                  <a:srgbClr val="C8A355"/>
                </a:solidFill>
                <a:latin typeface="Calibri"/>
              </a:rPr>
              <a:t>github.com/jjshay/dataradar-listings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5577840"/>
            <a:ext cx="105156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800" b="0">
                <a:solidFill>
                  <a:srgbClr val="7A8494"/>
                </a:solidFill>
                <a:latin typeface="Calibri"/>
              </a:rPr>
              <a:t>Thanks.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698480" y="6537960"/>
            <a:ext cx="1371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>
                <a:solidFill>
                  <a:srgbClr val="505A6A"/>
                </a:solidFill>
                <a:latin typeface="Calibri"/>
              </a:rPr>
              <a:t>DATARADAR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