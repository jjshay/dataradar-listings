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2286000"/>
            <a:ext cx="6858000" cy="6858000"/>
          </a:xfrm>
          <a:prstGeom prst="ellipse">
            <a:avLst/>
          </a:prstGeom>
          <a:solidFill>
            <a:srgbClr val="10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4572000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34840" y="3127248"/>
            <a:ext cx="219456" cy="219456"/>
          </a:xfrm>
          <a:prstGeom prst="ellipse">
            <a:avLst/>
          </a:prstGeom>
          <a:solidFill>
            <a:srgbClr val="C8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0" b="1">
                <a:solidFill>
                  <a:srgbClr val="F0F3F7"/>
                </a:solidFill>
                <a:latin typeface="Calibri"/>
              </a:rPr>
              <a:t>DATARADAR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>
                <a:solidFill>
                  <a:srgbClr val="4A9EFF"/>
                </a:solidFill>
                <a:latin typeface="Calibri"/>
              </a:rPr>
              <a:t>Data-driven eBay inventory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0F3F7"/>
                </a:solidFill>
                <a:latin typeface="Calibri"/>
              </a:rPr>
              <a:t>JJ Shay  ·  Gauntlet Gallery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8A355"/>
                </a:solidFill>
                <a:latin typeface="Calibri"/>
              </a:rPr>
              <a:t>web-production-15df7.up.railway.app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731520"/>
          </a:xfrm>
          <a:prstGeom prst="rect">
            <a:avLst/>
          </a:prstGeom>
          <a:solidFill>
            <a:srgbClr val="C8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0F3F7"/>
                </a:solidFill>
                <a:latin typeface="Calibri"/>
              </a:rPr>
              <a:t>eBay resellers are flying blind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F0F3F7"/>
                </a:solidFill>
                <a:latin typeface="Calibri"/>
              </a:rPr>
              <a:t>•  54k+ comparable sales exist on the web — fragmented, unindexed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0F3F7"/>
                </a:solidFill>
                <a:latin typeface="Calibri"/>
              </a:rPr>
              <a:t>•  Sellers price by gut or by the single lowest competitor (race to bottom)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0F3F7"/>
                </a:solidFill>
                <a:latin typeface="Calibri"/>
              </a:rPr>
              <a:t>•  No systematic way to ask: "what should this actually sell for?"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F0F3F7"/>
                </a:solidFill>
                <a:latin typeface="Calibri"/>
              </a:rPr>
              <a:t>•  Key-date events (artist deaths, anniversaries) move prices 5–35% — most sellers miss the window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394960"/>
            <a:ext cx="10515600" cy="822960"/>
          </a:xfrm>
          <a:prstGeom prst="roundRect">
            <a:avLst/>
          </a:prstGeom>
          <a:solidFill>
            <a:srgbClr val="15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C8A355"/>
                </a:solidFill>
                <a:latin typeface="Calibri"/>
              </a:rPr>
              <a:t>Price accuracy drives 60%+ of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7315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0F3F7"/>
                </a:solidFill>
                <a:latin typeface="Calibri"/>
              </a:rPr>
              <a:t>DATARADAR 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>
                <a:solidFill>
                  <a:srgbClr val="F0F3F7"/>
                </a:solidFill>
                <a:latin typeface="Calibri"/>
              </a:rPr>
              <a:t>Every listing, priced by 54,000 comps</a:t>
            </a:r>
          </a:p>
          <a:p>
            <a:pPr algn="ctr"/>
            <a:r>
              <a:rPr sz="3400" b="1">
                <a:solidFill>
                  <a:srgbClr val="F0F3F7"/>
                </a:solidFill>
                <a:latin typeface="Calibri"/>
              </a:rPr>
              <a:t>and 4 AI models,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663440"/>
            <a:ext cx="1600200" cy="118872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0F3F7"/>
                </a:solidFill>
                <a:latin typeface="Calibri"/>
              </a:rPr>
              <a:t>eBay
Inventory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86584" y="4663440"/>
            <a:ext cx="1600200" cy="118872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C8A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0F3F7"/>
                </a:solidFill>
                <a:latin typeface="Calibri"/>
              </a:rPr>
              <a:t>54k Comp
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4663440"/>
            <a:ext cx="1600200" cy="118872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0F3F7"/>
                </a:solidFill>
                <a:latin typeface="Calibri"/>
              </a:rPr>
              <a:t>Smart
Anchor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4663440"/>
            <a:ext cx="1600200" cy="118872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0F3F7"/>
                </a:solidFill>
                <a:latin typeface="Calibri"/>
              </a:rPr>
              <a:t>4-LLM
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4663440"/>
            <a:ext cx="1600200" cy="118872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C8A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0F3F7"/>
                </a:solidFill>
                <a:latin typeface="Calibri"/>
              </a:rPr>
              <a:t>Match
Consensus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04120" y="4663440"/>
            <a:ext cx="1600200" cy="118872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0F3F7"/>
                </a:solidFill>
                <a:latin typeface="Calibri"/>
              </a:rPr>
              <a:t>Re-price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077400" y="5148072"/>
            <a:ext cx="289184" cy="219456"/>
          </a:xfrm>
          <a:prstGeom prst="rightArrow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4006784" y="5148072"/>
            <a:ext cx="289184" cy="219456"/>
          </a:xfrm>
          <a:prstGeom prst="rightArrow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936168" y="5148072"/>
            <a:ext cx="289184" cy="219456"/>
          </a:xfrm>
          <a:prstGeom prst="rightArrow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865552" y="5148072"/>
            <a:ext cx="289184" cy="219456"/>
          </a:xfrm>
          <a:prstGeom prst="rightArrow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9794936" y="5148072"/>
            <a:ext cx="289184" cy="219456"/>
          </a:xfrm>
          <a:prstGeom prst="rightArrow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731520"/>
          </a:xfrm>
          <a:prstGeom prst="rect">
            <a:avLst/>
          </a:prstGeom>
          <a:solidFill>
            <a:srgbClr val="C8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0F3F7"/>
                </a:solidFill>
                <a:latin typeface="Calibri"/>
              </a:rPr>
              <a:t>The 54k-record comp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0">
                <a:solidFill>
                  <a:srgbClr val="F0F3F7"/>
                </a:solidFill>
                <a:latin typeface="Calibri"/>
              </a:rPr>
              <a:t>•  54,000+ deduplicated past sales across Shepard Fairey, KAWS, Banksy, Death NYC, Mr. Brainwash, and more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0F3F7"/>
                </a:solidFill>
                <a:latin typeface="Calibri"/>
              </a:rPr>
              <a:t>•  Cleaned and indexed by artist, work_id, colorway, signed flag, medium, edition size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0F3F7"/>
                </a:solidFill>
                <a:latin typeface="Calibri"/>
              </a:rPr>
              <a:t>•  Weekly updates via scraper pipeline</a:t>
            </a:r>
          </a:p>
          <a:p>
            <a:pPr algn="l">
              <a:lnSpc>
                <a:spcPct val="160000"/>
              </a:lnSpc>
            </a:pPr>
            <a:r>
              <a:rPr sz="1800" b="0">
                <a:solidFill>
                  <a:srgbClr val="F0F3F7"/>
                </a:solidFill>
                <a:latin typeface="Calibri"/>
              </a:rPr>
              <a:t>•  Powers /prices mobile UI for on-the-go lookup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737360"/>
            <a:ext cx="3383280" cy="365760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C8A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0" b="1">
                <a:solidFill>
                  <a:srgbClr val="C8A355"/>
                </a:solidFill>
                <a:latin typeface="Calibri"/>
              </a:rPr>
              <a:t>54,000+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01752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7A8494"/>
                </a:solidFill>
                <a:latin typeface="Calibri"/>
              </a:rPr>
              <a:t>comps in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749039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4A9EFF"/>
                </a:solidFill>
                <a:latin typeface="Calibri"/>
              </a:rPr>
              <a:t>&lt;200ms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5720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7A8494"/>
                </a:solidFill>
                <a:latin typeface="Calibri"/>
              </a:rPr>
              <a:t>median search latency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7315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0F3F7"/>
                </a:solidFill>
                <a:latin typeface="Calibri"/>
              </a:rPr>
              <a:t>From gut feel to comp-grounded math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5303520" cy="2377440"/>
          </a:xfrm>
          <a:prstGeom prst="roundRect">
            <a:avLst/>
          </a:prstGeom>
          <a:solidFill>
            <a:srgbClr val="151D2A"/>
          </a:solidFill>
          <a:ln w="12700">
            <a:solidFill>
              <a:srgbClr val="7A8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7A8494"/>
                </a:solidFill>
                <a:latin typeface="Calibri"/>
              </a:rPr>
              <a:t>BEFORE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7A8494"/>
                </a:solidFill>
                <a:latin typeface="Consolas"/>
              </a:rPr>
              <a:t>base_price  ×  event_boost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5303520" cy="237744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37960" y="20116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0D158"/>
                </a:solidFill>
                <a:latin typeface="Calibri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0F3F7"/>
                </a:solidFill>
                <a:latin typeface="Consolas"/>
              </a:rPr>
              <a:t>comp_p75  ×  event_multiplier</a:t>
            </a:r>
          </a:p>
          <a:p>
            <a:pPr algn="l"/>
            <a:r>
              <a:rPr sz="2200" b="1">
                <a:solidFill>
                  <a:srgbClr val="F0F3F7"/>
                </a:solidFill>
                <a:latin typeface="Consolas"/>
              </a:rPr>
              <a:t>when ≥3 comps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8056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F0F3F7"/>
                </a:solidFill>
                <a:latin typeface="Calibri"/>
              </a:rPr>
              <a:t>Signed-gate: auto-filters comps to signed-only when title qualifies. Falls back to full pool if &lt;3 signed comps exist.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5669280"/>
            <a:ext cx="7589520" cy="731520"/>
          </a:xfrm>
          <a:prstGeom prst="roundRect">
            <a:avLst/>
          </a:prstGeom>
          <a:solidFill>
            <a:srgbClr val="060C14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286000" y="5669280"/>
            <a:ext cx="7589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30D158"/>
                </a:solidFill>
                <a:latin typeface="Consolas"/>
              </a:rPr>
              <a:t>suggested = comp_p75 × (1 + event_boost_pct / 100)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7315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0F3F7"/>
                </a:solidFill>
                <a:latin typeface="Calibri"/>
              </a:rPr>
              <a:t>Four models. One price.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303520" cy="114300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0F3F7"/>
                </a:solidFill>
                <a:latin typeface="Calibri"/>
              </a:rPr>
              <a:t>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8494"/>
                </a:solidFill>
                <a:latin typeface="Calibri"/>
              </a:rPr>
              <a:t>Anthropic  ·  claude-sonnet-4-6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03520" cy="114300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0F3F7"/>
                </a:solidFill>
                <a:latin typeface="Calibri"/>
              </a:rPr>
              <a:t>GPT-4o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402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8494"/>
                </a:solidFill>
                <a:latin typeface="Calibri"/>
              </a:rPr>
              <a:t>OpenAI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80360"/>
            <a:ext cx="5303520" cy="114300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C8A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06324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0F3F7"/>
                </a:solidFill>
                <a:latin typeface="Calibri"/>
              </a:rPr>
              <a:t>GEMINI 2.0 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66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8494"/>
                </a:solidFill>
                <a:latin typeface="Calibri"/>
              </a:rPr>
              <a:t>Google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880360"/>
            <a:ext cx="5303520" cy="114300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75120" y="3063240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0F3F7"/>
                </a:solidFill>
                <a:latin typeface="Calibri"/>
              </a:rPr>
              <a:t>GROK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566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8494"/>
                </a:solidFill>
                <a:latin typeface="Calibri"/>
              </a:rPr>
              <a:t>xAI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Same prompt to each: title, artist, your price, comp stats, recent sales, supply count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Fans out in parallel (5–10s wall clock)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Cached per (listing_id, comp_median bucket) — invalidates only when comp_median shifts ≥$10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Consensus = median of valid prices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8A355"/>
                </a:solidFill>
                <a:latin typeface="Calibri"/>
              </a:rPr>
              <a:t>~$0.01–0.02 per item  ·  cached until comps 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7315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0F3F7"/>
                </a:solidFill>
                <a:latin typeface="Calibri"/>
              </a:rPr>
              <a:t>Tinder for 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676656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>
                <a:solidFill>
                  <a:srgbClr val="F0F3F7"/>
                </a:solidFill>
                <a:latin typeface="Calibri"/>
              </a:rPr>
              <a:t>•  Full-screen card view, one listing at a time</a:t>
            </a: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F0F3F7"/>
                </a:solidFill>
                <a:latin typeface="Calibri"/>
              </a:rPr>
              <a:t>•  Two tabs per card: Comps (histogram + year trend + recent sales) · LLM Consensus (4 model cards + Match button)</a:t>
            </a: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F0F3F7"/>
                </a:solidFill>
                <a:latin typeface="Calibri"/>
              </a:rPr>
              <a:t>•  Touch swipe, keyboard arrows, Esc to close</a:t>
            </a:r>
          </a:p>
          <a:p>
            <a:pPr algn="l">
              <a:lnSpc>
                <a:spcPct val="155000"/>
              </a:lnSpc>
            </a:pPr>
            <a:r>
              <a:rPr sz="1800" b="0">
                <a:solidFill>
                  <a:srgbClr val="F0F3F7"/>
                </a:solidFill>
                <a:latin typeface="Calibri"/>
              </a:rPr>
              <a:t>•  "Match Consensus" auto-pushes the price to eBay in one click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645920"/>
            <a:ext cx="3291840" cy="457200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412480" y="1874520"/>
            <a:ext cx="2926080" cy="1005840"/>
          </a:xfrm>
          <a:prstGeom prst="roundRect">
            <a:avLst/>
          </a:prstGeom>
          <a:solidFill>
            <a:srgbClr val="1C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412480" y="1874520"/>
            <a:ext cx="292608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0F3F7"/>
                </a:solidFill>
                <a:latin typeface="Calibri"/>
              </a:rPr>
              <a:t>HEADER</a:t>
            </a:r>
          </a:p>
          <a:p>
            <a:pPr algn="ctr"/>
            <a:r>
              <a:rPr sz="1200" b="1">
                <a:solidFill>
                  <a:srgbClr val="F0F3F7"/>
                </a:solidFill>
                <a:latin typeface="Calibri"/>
              </a:rPr>
              <a:t>Title · Artist · 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3063240"/>
            <a:ext cx="2926080" cy="2103120"/>
          </a:xfrm>
          <a:prstGeom prst="roundRect">
            <a:avLst/>
          </a:prstGeom>
          <a:solidFill>
            <a:srgbClr val="1C2B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0" y="3063240"/>
            <a:ext cx="2926080" cy="2103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C8A355"/>
                </a:solidFill>
                <a:latin typeface="Calibri"/>
              </a:rPr>
              <a:t>TABS</a:t>
            </a:r>
          </a:p>
          <a:p>
            <a:pPr algn="ctr"/>
            <a:r>
              <a:rPr sz="1200" b="1">
                <a:solidFill>
                  <a:srgbClr val="C8A355"/>
                </a:solidFill>
                <a:latin typeface="Calibri"/>
              </a:rPr>
              <a:t>Comps · LLM Consensus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349240"/>
            <a:ext cx="2926080" cy="640080"/>
          </a:xfrm>
          <a:prstGeom prst="roundRect">
            <a:avLst/>
          </a:prstGeom>
          <a:solidFill>
            <a:srgbClr val="143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412480" y="534924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30D158"/>
                </a:solidFill>
                <a:latin typeface="Calibri"/>
              </a:rPr>
              <a:t>FOOTER · Match Consensus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731520"/>
          </a:xfrm>
          <a:prstGeom prst="rect">
            <a:avLst/>
          </a:prstGeom>
          <a:solidFill>
            <a:srgbClr val="C8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0F3F7"/>
                </a:solidFill>
                <a:latin typeface="Calibri"/>
              </a:rPr>
              <a:t>Under the hood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32807" y="3108960"/>
            <a:ext cx="2926080" cy="137160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632807" y="310896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0F3F7"/>
                </a:solidFill>
                <a:latin typeface="Calibri"/>
              </a:rPr>
              <a:t>Flask app</a:t>
            </a:r>
          </a:p>
          <a:p>
            <a:pPr algn="ctr"/>
            <a:r>
              <a:rPr sz="1600" b="1">
                <a:solidFill>
                  <a:srgbClr val="F0F3F7"/>
                </a:solidFill>
                <a:latin typeface="Calibri"/>
              </a:rPr>
              <a:t>app.py (14k lines)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286000" cy="100584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C8A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0F3F7"/>
                </a:solidFill>
                <a:latin typeface="Calibri"/>
              </a:rPr>
              <a:t>eBay Trading API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88920" y="1965960"/>
            <a:ext cx="1813887" cy="201168"/>
          </a:xfrm>
          <a:prstGeom prst="rightArrow">
            <a:avLst/>
          </a:prstGeom>
          <a:solidFill>
            <a:srgbClr val="C8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2286000" cy="100584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C8A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0F3F7"/>
                </a:solidFill>
                <a:latin typeface="Calibri"/>
              </a:rPr>
              <a:t>Google Sheets</a:t>
            </a:r>
          </a:p>
          <a:p>
            <a:pPr algn="ctr"/>
            <a:r>
              <a:rPr sz="1300" b="1">
                <a:solidFill>
                  <a:srgbClr val="F0F3F7"/>
                </a:solidFill>
                <a:latin typeface="Calibri"/>
              </a:rPr>
              <a:t>(pricing rules)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88920" y="3429000"/>
            <a:ext cx="1813887" cy="201168"/>
          </a:xfrm>
          <a:prstGeom prst="rightArrow">
            <a:avLst/>
          </a:prstGeom>
          <a:solidFill>
            <a:srgbClr val="C8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2286000" cy="100584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C8A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22860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0F3F7"/>
                </a:solidFill>
                <a:latin typeface="Calibri"/>
              </a:rPr>
              <a:t>54k comp DB</a:t>
            </a:r>
          </a:p>
          <a:p>
            <a:pPr algn="ctr"/>
            <a:r>
              <a:rPr sz="1300" b="1">
                <a:solidFill>
                  <a:srgbClr val="F0F3F7"/>
                </a:solidFill>
                <a:latin typeface="Calibri"/>
              </a:rPr>
              <a:t>(data/*.json)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88920" y="4892040"/>
            <a:ext cx="1813887" cy="201168"/>
          </a:xfrm>
          <a:prstGeom prst="rightArrow">
            <a:avLst/>
          </a:prstGeom>
          <a:solidFill>
            <a:srgbClr val="C8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18320" y="1417320"/>
            <a:ext cx="2286000" cy="82296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418320" y="141732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0F3F7"/>
                </a:solidFill>
                <a:latin typeface="Calibri"/>
              </a:rPr>
              <a:t>Claude API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588887" y="1737360"/>
            <a:ext cx="1799432" cy="201168"/>
          </a:xfrm>
          <a:prstGeom prst="rightArrow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18320" y="2606040"/>
            <a:ext cx="2286000" cy="82296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18320" y="260604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0F3F7"/>
                </a:solidFill>
                <a:latin typeface="Calibri"/>
              </a:rPr>
              <a:t>OpenAI API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88887" y="2926080"/>
            <a:ext cx="1799432" cy="201168"/>
          </a:xfrm>
          <a:prstGeom prst="rightArrow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18320" y="3794760"/>
            <a:ext cx="2286000" cy="82296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418320" y="379476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0F3F7"/>
                </a:solidFill>
                <a:latin typeface="Calibri"/>
              </a:rPr>
              <a:t>Gemini API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588887" y="4114800"/>
            <a:ext cx="1799432" cy="201168"/>
          </a:xfrm>
          <a:prstGeom prst="rightArrow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4983480"/>
            <a:ext cx="2286000" cy="82296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418320" y="498348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0F3F7"/>
                </a:solidFill>
                <a:latin typeface="Calibri"/>
              </a:rPr>
              <a:t>Grok API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588887" y="5303520"/>
            <a:ext cx="1799432" cy="201168"/>
          </a:xfrm>
          <a:prstGeom prst="rightArrow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7A8494"/>
                </a:solidFill>
                <a:latin typeface="Calibri"/>
              </a:rPr>
              <a:t>Deployment: Railway (Procfile → python app.py)  ·  Persistence: JSON files + Google Sheets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7315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0F3F7"/>
                </a:solidFill>
                <a:latin typeface="Calibri"/>
              </a:rPr>
              <a:t>Where we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87" y="2011680"/>
            <a:ext cx="2606040" cy="274320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C8A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72287" y="23317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>
                <a:solidFill>
                  <a:srgbClr val="C8A355"/>
                </a:solidFill>
                <a:latin typeface="Calibri"/>
              </a:rPr>
              <a:t>54,000+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167" y="37947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0F3F7"/>
                </a:solidFill>
                <a:latin typeface="Calibri"/>
              </a:rPr>
              <a:t>records in comp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2647" y="2011680"/>
            <a:ext cx="2606040" cy="274320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52647" y="23317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>
                <a:solidFill>
                  <a:srgbClr val="4A9EFF"/>
                </a:solidFill>
                <a:latin typeface="Calibri"/>
              </a:rPr>
              <a:t>~200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5527" y="37947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0F3F7"/>
                </a:solidFill>
                <a:latin typeface="Calibri"/>
              </a:rPr>
              <a:t>active eBay listings managed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011680"/>
            <a:ext cx="2606040" cy="274320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33007" y="23317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>
                <a:solidFill>
                  <a:srgbClr val="30D158"/>
                </a:solidFill>
                <a:latin typeface="Calibri"/>
              </a:rPr>
              <a:t>2 of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5887" y="37947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0F3F7"/>
                </a:solidFill>
                <a:latin typeface="Calibri"/>
              </a:rPr>
              <a:t>LLMs live</a:t>
            </a:r>
          </a:p>
          <a:p>
            <a:pPr algn="ctr"/>
            <a:r>
              <a:rPr sz="1400" b="0">
                <a:solidFill>
                  <a:srgbClr val="F0F3F7"/>
                </a:solidFill>
                <a:latin typeface="Calibri"/>
              </a:rPr>
              <a:t>Claude + Grok · OpenAI/Gemini pending billing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13367" y="2011680"/>
            <a:ext cx="2606040" cy="274320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13367" y="2331720"/>
            <a:ext cx="26060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400" b="1">
                <a:solidFill>
                  <a:srgbClr val="4A9EFF"/>
                </a:solidFill>
                <a:latin typeface="Calibri"/>
              </a:rPr>
              <a:t>&lt;2s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6247" y="3794760"/>
            <a:ext cx="2240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0F3F7"/>
                </a:solidFill>
                <a:latin typeface="Calibri"/>
              </a:rPr>
              <a:t>wall clock, 4-LLM fan-out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C8A355"/>
                </a:solidFill>
                <a:latin typeface="Calibri"/>
              </a:rPr>
              <a:t>Deployed live at web-production-15df7.up.railway.app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7A8494"/>
                </a:solidFill>
                <a:latin typeface="Calibri"/>
              </a:rPr>
              <a:t>Railway auto-deploy from GitHub 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7315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0F3F7"/>
                </a:solidFill>
                <a:latin typeface="Calibri"/>
              </a:rPr>
              <a:t>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87" y="1737360"/>
            <a:ext cx="3566160" cy="448056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6607" y="1965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30D158"/>
                </a:solidFill>
                <a:latin typeface="Calibr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6607" y="25146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8494"/>
                </a:solidFill>
                <a:latin typeface="Calibri"/>
              </a:rPr>
              <a:t>Next 2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063240"/>
            <a:ext cx="30175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OpenAI + Gemini quota top-up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Bulk batch repricing approval UI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Nightly comp re-index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767" y="1737360"/>
            <a:ext cx="3566160" cy="448056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87087" y="1965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4A9EFF"/>
                </a:solidFill>
                <a:latin typeface="Calibri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087" y="25146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8494"/>
                </a:solidFill>
                <a:latin typeface="Calibri"/>
              </a:rPr>
              <a:t>Q3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3063240"/>
            <a:ext cx="30175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More data sources
(Heritage, Christie's)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Artist-specific LLM fine-tuning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Mobile PWA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247" y="1737360"/>
            <a:ext cx="3566160" cy="448056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C8A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27567" y="19659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8A355"/>
                </a:solidFill>
                <a:latin typeface="Calibri"/>
              </a:rPr>
              <a:t>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7567" y="25146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A8494"/>
                </a:solidFill>
                <a:latin typeface="Calibri"/>
              </a:rPr>
              <a:t>Horizon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7567" y="3063240"/>
            <a:ext cx="301752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Open comp DB as paid API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Multi-marketplace
(Mercari, Poshmark)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0F3F7"/>
                </a:solidFill>
                <a:latin typeface="Calibri"/>
              </a:rPr>
              <a:t>•  AI-authenticated COA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28016" cy="731520"/>
          </a:xfrm>
          <a:prstGeom prst="rect">
            <a:avLst/>
          </a:prstGeom>
          <a:solidFill>
            <a:srgbClr val="C8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0F3F7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447" y="1691640"/>
            <a:ext cx="10972800" cy="118872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30D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75207" y="169164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30D158"/>
                </a:solidFill>
                <a:latin typeface="Calibri"/>
              </a:rPr>
              <a:t>Own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8367" y="1920240"/>
            <a:ext cx="27432" cy="731520"/>
          </a:xfrm>
          <a:prstGeom prst="rect">
            <a:avLst/>
          </a:prstGeom>
          <a:solidFill>
            <a:srgbClr val="30D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6967" y="1691640"/>
            <a:ext cx="76809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0F3F7"/>
                </a:solidFill>
                <a:latin typeface="Calibri"/>
              </a:rPr>
              <a:t>Gauntlet Gallery owns a pricing stack worth $50k+ in engineering with $0 ongoing (free-tier APIs fit this scale).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447" y="3108960"/>
            <a:ext cx="10972800" cy="118872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4A9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5207" y="310896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4A9EFF"/>
                </a:solidFill>
                <a:latin typeface="Calibri"/>
              </a:rPr>
              <a:t>License 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8367" y="3337560"/>
            <a:ext cx="27432" cy="731520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6967" y="3108960"/>
            <a:ext cx="76809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0F3F7"/>
                </a:solidFill>
                <a:latin typeface="Calibri"/>
              </a:rPr>
              <a:t>Other art and collectibles resellers pay $50–200/mo for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4526280"/>
            <a:ext cx="10972800" cy="1188720"/>
          </a:xfrm>
          <a:prstGeom prst="roundRect">
            <a:avLst/>
          </a:prstGeom>
          <a:solidFill>
            <a:srgbClr val="121E2F"/>
          </a:solidFill>
          <a:ln w="12700">
            <a:solidFill>
              <a:srgbClr val="C8A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75207" y="4526280"/>
            <a:ext cx="237744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>
                <a:solidFill>
                  <a:srgbClr val="C8A355"/>
                </a:solidFill>
                <a:latin typeface="Calibri"/>
              </a:rPr>
              <a:t>Sell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8367" y="4754880"/>
            <a:ext cx="27432" cy="731520"/>
          </a:xfrm>
          <a:prstGeom prst="rect">
            <a:avLst/>
          </a:prstGeom>
          <a:solidFill>
            <a:srgbClr val="C8A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6967" y="4526280"/>
            <a:ext cx="76809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0F3F7"/>
                </a:solidFill>
                <a:latin typeface="Calibri"/>
              </a:rPr>
              <a:t>A marketplace (Heritage, StockX, 1stDibs) acquires the comp DB + engine as an upgrade to their seller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0350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7A8494"/>
                </a:solidFill>
                <a:latin typeface="Calibri"/>
              </a:rPr>
              <a:t>TAM for collectibles software: ~$400M · growing 12% YoY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1371600"/>
            <a:ext cx="2103120" cy="73152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F0F3F7"/>
                </a:solidFill>
                <a:latin typeface="Calibri"/>
              </a:rPr>
              <a:t>JJ Shay  ·  Gauntlet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15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80000"/>
              </a:lnSpc>
            </a:pPr>
            <a:r>
              <a:rPr sz="2000" b="0">
                <a:solidFill>
                  <a:srgbClr val="F0F3F7"/>
                </a:solidFill>
                <a:latin typeface="Calibri"/>
              </a:rPr>
              <a:t>jjshay@gmail.com</a:t>
            </a:r>
          </a:p>
          <a:p>
            <a:pPr algn="ctr">
              <a:lnSpc>
                <a:spcPct val="180000"/>
              </a:lnSpc>
            </a:pPr>
            <a:r>
              <a:rPr sz="2000" b="0">
                <a:solidFill>
                  <a:srgbClr val="4A9EFF"/>
                </a:solidFill>
                <a:latin typeface="Calibri"/>
              </a:rPr>
              <a:t>linkedin.com/in/jjshay</a:t>
            </a:r>
          </a:p>
          <a:p>
            <a:pPr algn="ctr">
              <a:lnSpc>
                <a:spcPct val="180000"/>
              </a:lnSpc>
            </a:pPr>
            <a:r>
              <a:rPr sz="2000" b="0">
                <a:solidFill>
                  <a:srgbClr val="C8A355"/>
                </a:solidFill>
                <a:latin typeface="Calibri"/>
              </a:rPr>
              <a:t>github.com/jjshay/dataradar-listings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7A8494"/>
                </a:solidFill>
                <a:latin typeface="Calibri"/>
              </a:rPr>
              <a:t>Thanks for your 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05A6A"/>
                </a:solidFill>
                <a:latin typeface="Calibri"/>
              </a:rPr>
              <a:t>DATARADAR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